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5890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30 detik):
Selamat pagi/siang, kami dari kelompok [nama kelompok] akan mempresentasikan tugas Machine Learning Dasar: memprediksi apakah mahasiswa akan lulus tepat waktu atau tidak, menggunakan Decision Tree dan Naive Bayes, studi kasus EduTech.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30 detik):
Berikut alur presentasi kami: mulai dari masalah dan metodologi, hasil evaluasi ketiga model beserta visualisasinya, analisis kenapa model bisa salah prediksi, rekomendasi model mana yang sebaiknya dipakai, pertimbangan etika, simulasi kasus nyata, dan diakhiri kesimpulan.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70 detik):
EduTech ingin tahu mahasiswa mana yang berisiko TIDAK lulus tepat waktu, supaya bisa dibantu lebih awal. Kami pakai 7 data: IPK, kehadiran, jam belajar, keaktifan organisasi, penghasilan orang tua, jenis kelamin, dan status beasiswa.
Data yang kosong kami isi pakai nilai tengah (median) untuk angka dan nilai paling sering muncul (modus) untuk kategori. Data kategori diubah jadi angka. Dari 500 data, 400 dipakai melatih model, 100 disisihkan untuk menguji.
Kami bandingkan 3 model: Decision Tree dibatasi (depth=3), Decision Tree tidak dibatasi, dan Gaussian Naive Bayes.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80 detik):
Akurasi: persentase tebakan benar. Precision: dari yang ditebak 'lulus tepat waktu', berapa persen yang benar. Recall: dari yang SEBENARNYA lulus tepat waktu, berapa persen berhasil ketebak. F1 menggabungkan precision &amp; recall.
Yang penting: Decision Tree tanpa batas kedalaman performanya paling jelek, akurasi cuma 49%, padahal di data latih sempurna — ini OVERFITTING, model terlalu hafal data latih. DT dibatasi (depth=3) dan Naive Bayes sama-sama 67%.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60 detik):
Confusion matrix menunjukkan detail kesalahan tiap model. Perhatikan Decision Tree (depth=None) di tengah: paling banyak kesalahan di luar diagonal (24 mahasiswa yang sebenarnya lulus tepat waktu malah ditebak tidak). Naive Bayes di kanan punya diagonal paling seimbang antara dua kelas.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60 detik):
Ini pohon keputusan dengan kedalaman dibatasi 3 tingkat. Node paling atas (akar) memecah berdasarkan IPK &lt;= 2.665 — fitur paling penting. Cabang berikutnya memakai Kehadiran, lalu IPK lagi. Warna oranye = lebih condong 'Tidak lulus tepat waktu', warna biru = lebih condong 'Ya'. Struktur ini yang membuat Decision Tree gampang dijelaskan sebagai aturan if-else ke dosen wali.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70 detik):
Kami ambil 5 contoh salah prediksi dari Decision Tree tanpa batas kedalaman, karena model ini paling overfitting. Tiga baris pertama diprediksi 'Ya' padahal aktualnya 'Tidak' — mereka punya IPK dan jam belajar yang cukup tinggi, kombinasi yang di data latih kebetulan banyak berujung lulus tepat waktu, tapi ternyata tidak berlaku umum. Dua baris terakhir sebaliknya: IPK tinggi tapi jam belajar rendah, model terlalu yakin itu berarti tidak lulus tepat waktu. Ini semua bukti model menghafal detail spesifik data latih (noise), bukan pola yang benar-benar general.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70 detik):
Karena akurasi Naive Bayes dan Decision Tree (depth=3) sama-sama 67%, kami lihat metrik lain. Naive Bayes direkomendasikan sebagai model utama karena lebih peka mendeteksi mahasiswa berisiko TIDAK lulus tepat waktu (recall 39% vs 26%) — penting untuk intervensi dini.
Decision Tree (depth=3) dipakai sebagai pendamping karena aturannya mudah dijelaskan ke dosen wali. Catatan: akurasi baru 67%, jadi hasil prediksi sebaiknya jadi alat bantu, bukan satu-satunya penentu keputusan.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70 detik):
Fitur Penghasilan_Ortu dan Jenis_Kelamin itu sensitif. Kalau dipakai untuk seleksi beasiswa, bisa tidak adil: mahasiswa kurang mampu yang terpaksa kerja part-time sehingga kehadirannya rendah, bisa diprediksi 'berisiko' dan malah gagal dapat beasiswa — padahal dia yang paling butuh bantuan.
Mitigasi: audit fairness berkala, sebisa mungkin fitur sensitif tidak jadi input langsung, keputusan akhir tetap melibatkan manusia, dan transparan ke mahasiswa soal faktor apa yang memengaruhi prediksi mereka.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 80 detik):
Sebagai penutup, kami simulasikan kasus konkret: mahasiswa IPK tinggi (3.8) tapi kehadiran rendah (55%). Decision Tree yakin sekali bilang 'lulus tepat waktu' (87.5%) karena IPK setinggi itu sudah cukup dalam aturannya. Naive Bayes jauh lebih ragu (52.9%, nyaris 50:50) karena menilai tiap fitur terpisah — kehadiran rendah tetap menekan keyakinannya. Ini menunjukkan Decision Tree lebih baik menangkap interaksi antar fitur, sedangkan Naive Bayes menilai fitur satu-satu secara independen.
Kesimpulannya: Decision Tree dan Naive Bayes sama-sama bisa memprediksi kelulusan tepat waktu dengan akurasi sekitar 67%, tapi karakteristiknya saling melengkapi. Decision Tree tanpa batas kedalaman terbukti overfitting dan tidak direkomendasikan. Untuk penerapan nyata, model perlu dipakai hati-hati sebagai alat bantu keputusan, dengan mitigasi bias pada fitur sensitif.
Terima kasih, kami buka sesi tanya jawab.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DAC96-0564-FCAF-2616-E43185605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1AE3B-715A-52AB-1590-8883DADE4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067CB-0B49-BA21-5C1C-E3123762BE05}"/>
              </a:ext>
            </a:extLst>
          </p:cNvPr>
          <p:cNvSpPr>
            <a:spLocks noGrp="1"/>
          </p:cNvSpPr>
          <p:nvPr>
            <p:ph type="body" idx="1"/>
          </p:nvPr>
        </p:nvSpPr>
        <p:spPr/>
        <p:txBody>
          <a:bodyPr/>
          <a:lstStyle/>
          <a:p>
            <a:r>
              <a:rPr lang="en-US" dirty="0"/>
              <a:t>NASKAH (± 80 detik):
Sebagai penutup, kami simulasikan kasus konkret: mahasiswa IPK tinggi (3.8) tapi kehadiran rendah (55%). Decision Tree yakin sekali bilang 'lulus tepat waktu' (87.5%) karena IPK setinggi itu sudah cukup dalam aturannya. Naive Bayes jauh lebih ragu (52.9%, nyaris 50:50) karena menilai tiap fitur terpisah — kehadiran rendah tetap menekan keyakinannya. Ini menunjukkan Decision Tree lebih baik menangkap interaksi antar fitur, sedangkan Naive Bayes menilai fitur satu-satu secara independen.
Kesimpulannya: Decision Tree dan Naive Bayes sama-sama bisa memprediksi kelulusan tepat waktu dengan akurasi sekitar 67%, tapi karakteristiknya saling melengkapi. Decision Tree tanpa batas kedalaman terbukti overfitting dan tidak direkomendasikan. Untuk penerapan nyata, model perlu dipakai hati-hati sebagai alat bantu keputusan, dengan mitigasi bias pada fitur sensitif.
Terima kasih, kami buka sesi tanya jawab.</a:t>
            </a:r>
          </a:p>
        </p:txBody>
      </p:sp>
      <p:sp>
        <p:nvSpPr>
          <p:cNvPr id="4" name="Slide Number Placeholder 3">
            <a:extLst>
              <a:ext uri="{FF2B5EF4-FFF2-40B4-BE49-F238E27FC236}">
                <a16:creationId xmlns:a16="http://schemas.microsoft.com/office/drawing/2014/main" id="{0DDBCA74-2260-8D1B-C7B0-D204E9091B2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81302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4160520"/>
            <a:ext cx="12188952" cy="54864"/>
          </a:xfrm>
          <a:prstGeom prst="rect">
            <a:avLst/>
          </a:prstGeom>
          <a:solidFill>
            <a:srgbClr val="F9A826"/>
          </a:solidFill>
          <a:ln/>
        </p:spPr>
      </p:sp>
      <p:sp>
        <p:nvSpPr>
          <p:cNvPr id="3" name="Text 1"/>
          <p:cNvSpPr txBox="1"/>
          <p:nvPr/>
        </p:nvSpPr>
        <p:spPr>
          <a:xfrm>
            <a:off x="731520" y="2103120"/>
            <a:ext cx="10698480" cy="1371600"/>
          </a:xfrm>
          <a:prstGeom prst="rect">
            <a:avLst/>
          </a:prstGeom>
          <a:noFill/>
          <a:ln/>
        </p:spPr>
        <p:txBody>
          <a:bodyPr wrap="square"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PREDIKSI KELULUSAN TEPAT WAKTU MAHASISWA</a:t>
            </a:r>
            <a:endParaRPr lang="en-US" sz="3400" dirty="0"/>
          </a:p>
        </p:txBody>
      </p:sp>
      <p:sp>
        <p:nvSpPr>
          <p:cNvPr id="4" name="Text 2"/>
          <p:cNvSpPr txBox="1"/>
          <p:nvPr/>
        </p:nvSpPr>
        <p:spPr>
          <a:xfrm>
            <a:off x="731520" y="3337560"/>
            <a:ext cx="10698480" cy="548640"/>
          </a:xfrm>
          <a:prstGeom prst="rect">
            <a:avLst/>
          </a:prstGeom>
          <a:noFill/>
          <a:ln/>
        </p:spPr>
        <p:txBody>
          <a:bodyPr wrap="square" rtlCol="0" anchor="ctr"/>
          <a:lstStyle/>
          <a:p>
            <a:pPr marL="0" indent="0">
              <a:buNone/>
            </a:pPr>
            <a:r>
              <a:rPr lang="en-US" sz="1800" dirty="0">
                <a:solidFill>
                  <a:srgbClr val="CADCFC"/>
                </a:solidFill>
              </a:rPr>
              <a:t>Decision Tree vs Naive Bayes </a:t>
            </a:r>
            <a:endParaRPr lang="en-US" sz="1800" dirty="0"/>
          </a:p>
        </p:txBody>
      </p:sp>
      <p:sp>
        <p:nvSpPr>
          <p:cNvPr id="5" name="Text 3"/>
          <p:cNvSpPr txBox="1"/>
          <p:nvPr/>
        </p:nvSpPr>
        <p:spPr>
          <a:xfrm>
            <a:off x="731520" y="4434840"/>
            <a:ext cx="10698480" cy="457200"/>
          </a:xfrm>
          <a:prstGeom prst="rect">
            <a:avLst/>
          </a:prstGeom>
          <a:noFill/>
          <a:ln/>
        </p:spPr>
        <p:txBody>
          <a:bodyPr wrap="square" rtlCol="0" anchor="ctr"/>
          <a:lstStyle/>
          <a:p>
            <a:pPr marL="0" indent="0">
              <a:buNone/>
            </a:pPr>
            <a:r>
              <a:rPr lang="en-US" sz="1400" dirty="0">
                <a:solidFill>
                  <a:srgbClr val="9FB8D9"/>
                </a:solidFill>
              </a:rPr>
              <a:t>Machine Learning Dasar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Nama </a:t>
            </a:r>
            <a:r>
              <a:rPr lang="en-US" sz="2800" b="1" dirty="0" err="1">
                <a:solidFill>
                  <a:srgbClr val="FFFFFF"/>
                </a:solidFill>
                <a:latin typeface="Georgia" pitchFamily="34" charset="0"/>
                <a:ea typeface="Georgia" pitchFamily="34" charset="-122"/>
                <a:cs typeface="Georgia" pitchFamily="34" charset="-120"/>
              </a:rPr>
              <a:t>Kelompok</a:t>
            </a:r>
            <a:endParaRPr lang="en-US" sz="2800" dirty="0"/>
          </a:p>
        </p:txBody>
      </p:sp>
      <p:sp>
        <p:nvSpPr>
          <p:cNvPr id="4" name="Shape 2"/>
          <p:cNvSpPr/>
          <p:nvPr/>
        </p:nvSpPr>
        <p:spPr>
          <a:xfrm>
            <a:off x="640080" y="1645920"/>
            <a:ext cx="6085840" cy="1234440"/>
          </a:xfrm>
          <a:prstGeom prst="roundRect">
            <a:avLst>
              <a:gd name="adj" fmla="val 7407"/>
            </a:avLst>
          </a:prstGeom>
          <a:solidFill>
            <a:srgbClr val="FFFFFF"/>
          </a:solidFill>
          <a:ln w="9525">
            <a:solidFill>
              <a:srgbClr val="1C7293"/>
            </a:solidFill>
            <a:prstDash val="solid"/>
          </a:ln>
        </p:spPr>
      </p:sp>
      <p:sp>
        <p:nvSpPr>
          <p:cNvPr id="5" name="Shape 3"/>
          <p:cNvSpPr/>
          <p:nvPr/>
        </p:nvSpPr>
        <p:spPr>
          <a:xfrm>
            <a:off x="822960" y="1828800"/>
            <a:ext cx="457200" cy="457200"/>
          </a:xfrm>
          <a:prstGeom prst="ellipse">
            <a:avLst/>
          </a:prstGeom>
          <a:solidFill>
            <a:srgbClr val="F9A826"/>
          </a:solidFill>
          <a:ln/>
        </p:spPr>
      </p:sp>
      <p:sp>
        <p:nvSpPr>
          <p:cNvPr id="6" name="Text 4"/>
          <p:cNvSpPr txBox="1"/>
          <p:nvPr/>
        </p:nvSpPr>
        <p:spPr>
          <a:xfrm>
            <a:off x="822960" y="1828800"/>
            <a:ext cx="457200" cy="457200"/>
          </a:xfrm>
          <a:prstGeom prst="rect">
            <a:avLst/>
          </a:prstGeom>
          <a:noFill/>
          <a:ln/>
        </p:spPr>
        <p:txBody>
          <a:bodyPr wrap="square" rtlCol="0" anchor="ctr"/>
          <a:lstStyle/>
          <a:p>
            <a:pPr marL="0" indent="0" algn="ctr">
              <a:buNone/>
            </a:pPr>
            <a:r>
              <a:rPr lang="en-US" sz="1600" b="1" dirty="0">
                <a:solidFill>
                  <a:srgbClr val="21295C"/>
                </a:solidFill>
              </a:rPr>
              <a:t>1</a:t>
            </a:r>
            <a:endParaRPr lang="en-US" sz="1600" dirty="0"/>
          </a:p>
        </p:txBody>
      </p:sp>
      <p:sp>
        <p:nvSpPr>
          <p:cNvPr id="7" name="Text 5"/>
          <p:cNvSpPr txBox="1"/>
          <p:nvPr/>
        </p:nvSpPr>
        <p:spPr>
          <a:xfrm>
            <a:off x="1417320" y="1810512"/>
            <a:ext cx="5034280" cy="868680"/>
          </a:xfrm>
          <a:prstGeom prst="rect">
            <a:avLst/>
          </a:prstGeom>
          <a:noFill/>
          <a:ln/>
        </p:spPr>
        <p:txBody>
          <a:bodyPr wrap="square" rtlCol="0" anchor="ctr"/>
          <a:lstStyle/>
          <a:p>
            <a:pPr marL="0" indent="0">
              <a:buNone/>
            </a:pPr>
            <a:r>
              <a:rPr lang="en-US" b="1" dirty="0">
                <a:solidFill>
                  <a:srgbClr val="21295C"/>
                </a:solidFill>
                <a:latin typeface="Times New Roman" panose="02020603050405020304" pitchFamily="18" charset="0"/>
                <a:cs typeface="Times New Roman" panose="02020603050405020304" pitchFamily="18" charset="0"/>
              </a:rPr>
              <a:t>Ahmad </a:t>
            </a:r>
            <a:r>
              <a:rPr lang="en-US" b="1" dirty="0" err="1">
                <a:solidFill>
                  <a:srgbClr val="21295C"/>
                </a:solidFill>
                <a:latin typeface="Times New Roman" panose="02020603050405020304" pitchFamily="18" charset="0"/>
                <a:cs typeface="Times New Roman" panose="02020603050405020304" pitchFamily="18" charset="0"/>
              </a:rPr>
              <a:t>Febriyan</a:t>
            </a:r>
            <a:r>
              <a:rPr lang="en-US" b="1" dirty="0">
                <a:solidFill>
                  <a:srgbClr val="21295C"/>
                </a:solidFill>
                <a:latin typeface="Times New Roman" panose="02020603050405020304" pitchFamily="18" charset="0"/>
                <a:cs typeface="Times New Roman" panose="02020603050405020304" pitchFamily="18" charset="0"/>
              </a:rPr>
              <a:t>		G1A024005</a:t>
            </a:r>
            <a:endParaRPr lang="en-US" dirty="0">
              <a:latin typeface="Times New Roman" panose="02020603050405020304" pitchFamily="18" charset="0"/>
              <a:cs typeface="Times New Roman" panose="02020603050405020304" pitchFamily="18" charset="0"/>
            </a:endParaRPr>
          </a:p>
        </p:txBody>
      </p:sp>
      <p:sp>
        <p:nvSpPr>
          <p:cNvPr id="16" name="Shape 14"/>
          <p:cNvSpPr/>
          <p:nvPr/>
        </p:nvSpPr>
        <p:spPr>
          <a:xfrm>
            <a:off x="640080" y="3154680"/>
            <a:ext cx="6085840" cy="1234440"/>
          </a:xfrm>
          <a:prstGeom prst="roundRect">
            <a:avLst>
              <a:gd name="adj" fmla="val 7407"/>
            </a:avLst>
          </a:prstGeom>
          <a:solidFill>
            <a:srgbClr val="FFFFFF"/>
          </a:solidFill>
          <a:ln w="9525">
            <a:solidFill>
              <a:srgbClr val="1C7293"/>
            </a:solidFill>
            <a:prstDash val="solid"/>
          </a:ln>
        </p:spPr>
      </p:sp>
      <p:sp>
        <p:nvSpPr>
          <p:cNvPr id="17" name="Shape 15"/>
          <p:cNvSpPr/>
          <p:nvPr/>
        </p:nvSpPr>
        <p:spPr>
          <a:xfrm>
            <a:off x="822960" y="3337560"/>
            <a:ext cx="457200" cy="457200"/>
          </a:xfrm>
          <a:prstGeom prst="ellipse">
            <a:avLst/>
          </a:prstGeom>
          <a:solidFill>
            <a:srgbClr val="F9A826"/>
          </a:solidFill>
          <a:ln/>
        </p:spPr>
      </p:sp>
      <p:sp>
        <p:nvSpPr>
          <p:cNvPr id="18" name="Text 16"/>
          <p:cNvSpPr txBox="1"/>
          <p:nvPr/>
        </p:nvSpPr>
        <p:spPr>
          <a:xfrm>
            <a:off x="822960" y="3337560"/>
            <a:ext cx="457200" cy="457200"/>
          </a:xfrm>
          <a:prstGeom prst="rect">
            <a:avLst/>
          </a:prstGeom>
          <a:noFill/>
          <a:ln/>
        </p:spPr>
        <p:txBody>
          <a:bodyPr wrap="square" rtlCol="0" anchor="ctr"/>
          <a:lstStyle/>
          <a:p>
            <a:pPr marL="0" indent="0" algn="ctr">
              <a:buNone/>
            </a:pPr>
            <a:endParaRPr lang="en-US" sz="1600" dirty="0"/>
          </a:p>
        </p:txBody>
      </p:sp>
      <p:sp>
        <p:nvSpPr>
          <p:cNvPr id="19" name="Text 17"/>
          <p:cNvSpPr txBox="1"/>
          <p:nvPr/>
        </p:nvSpPr>
        <p:spPr>
          <a:xfrm>
            <a:off x="1417320" y="3319272"/>
            <a:ext cx="4678680" cy="868680"/>
          </a:xfrm>
          <a:prstGeom prst="rect">
            <a:avLst/>
          </a:prstGeom>
          <a:noFill/>
          <a:ln/>
        </p:spPr>
        <p:txBody>
          <a:bodyPr wrap="square" rtlCol="0" anchor="ctr"/>
          <a:lstStyle/>
          <a:p>
            <a:pPr marL="0" indent="0">
              <a:buNone/>
            </a:pPr>
            <a:r>
              <a:rPr lang="en-US" b="1" dirty="0" err="1">
                <a:latin typeface="Times New Roman" panose="02020603050405020304" pitchFamily="18" charset="0"/>
                <a:cs typeface="Times New Roman" panose="02020603050405020304" pitchFamily="18" charset="0"/>
              </a:rPr>
              <a:t>Yudhistira</a:t>
            </a:r>
            <a:r>
              <a:rPr lang="en-US" b="1" dirty="0">
                <a:latin typeface="Times New Roman" panose="02020603050405020304" pitchFamily="18" charset="0"/>
                <a:cs typeface="Times New Roman" panose="02020603050405020304" pitchFamily="18" charset="0"/>
              </a:rPr>
              <a:t> Rizky R.	G1A024079</a:t>
            </a:r>
          </a:p>
        </p:txBody>
      </p:sp>
      <p:sp>
        <p:nvSpPr>
          <p:cNvPr id="30" name="Text 28"/>
          <p:cNvSpPr txBox="1"/>
          <p:nvPr/>
        </p:nvSpPr>
        <p:spPr>
          <a:xfrm>
            <a:off x="822960" y="3337560"/>
            <a:ext cx="457200" cy="457200"/>
          </a:xfrm>
          <a:prstGeom prst="rect">
            <a:avLst/>
          </a:prstGeom>
          <a:noFill/>
          <a:ln/>
        </p:spPr>
        <p:txBody>
          <a:bodyPr wrap="square" rtlCol="0" anchor="ctr"/>
          <a:lstStyle/>
          <a:p>
            <a:pPr marL="0" indent="0" algn="ctr">
              <a:buNone/>
            </a:pPr>
            <a:r>
              <a:rPr lang="en-US" sz="1600" b="1" dirty="0">
                <a:solidFill>
                  <a:srgbClr val="21295C"/>
                </a:solidFill>
              </a:rPr>
              <a:t>2</a:t>
            </a:r>
            <a:endParaRPr lang="en-US" sz="1600" dirty="0"/>
          </a:p>
        </p:txBody>
      </p:sp>
      <p:sp>
        <p:nvSpPr>
          <p:cNvPr id="36" name="Text 34"/>
          <p:cNvSpPr txBox="1"/>
          <p:nvPr/>
        </p:nvSpPr>
        <p:spPr>
          <a:xfrm>
            <a:off x="548640" y="6446520"/>
            <a:ext cx="10972800" cy="320040"/>
          </a:xfrm>
          <a:prstGeom prst="rect">
            <a:avLst/>
          </a:prstGeom>
          <a:noFill/>
          <a:ln/>
        </p:spPr>
        <p:txBody>
          <a:bodyPr wrap="square" rtlCol="0" anchor="ctr"/>
          <a:lstStyle/>
          <a:p>
            <a:pPr marL="0" indent="0">
              <a:buNone/>
            </a:pPr>
            <a:r>
              <a:rPr lang="en-US" sz="1000" dirty="0">
                <a:solidFill>
                  <a:srgbClr val="1C7293"/>
                </a:solidFill>
              </a:rPr>
              <a:t>Universitas Bengkulu</a:t>
            </a:r>
            <a:endParaRPr lang="en-US" sz="1000" dirty="0"/>
          </a:p>
        </p:txBody>
      </p:sp>
      <p:sp>
        <p:nvSpPr>
          <p:cNvPr id="38" name="Shape 0">
            <a:extLst>
              <a:ext uri="{FF2B5EF4-FFF2-40B4-BE49-F238E27FC236}">
                <a16:creationId xmlns:a16="http://schemas.microsoft.com/office/drawing/2014/main" id="{C703616B-E8BE-D8A3-C48D-99A17A6FEBDF}"/>
              </a:ext>
            </a:extLst>
          </p:cNvPr>
          <p:cNvSpPr/>
          <p:nvPr/>
        </p:nvSpPr>
        <p:spPr>
          <a:xfrm>
            <a:off x="8199120" y="3072338"/>
            <a:ext cx="4572000" cy="4572000"/>
          </a:xfrm>
          <a:prstGeom prst="ellipse">
            <a:avLst/>
          </a:prstGeom>
          <a:solidFill>
            <a:srgbClr val="2563EB">
              <a:alpha val="28000"/>
            </a:srgbClr>
          </a:solidFill>
          <a:ln w="12700">
            <a:solidFill>
              <a:srgbClr val="2563EB">
                <a:alpha val="28000"/>
              </a:srgbClr>
            </a:solidFill>
            <a:prstDash val="solid"/>
          </a:ln>
        </p:spPr>
      </p:sp>
      <p:sp>
        <p:nvSpPr>
          <p:cNvPr id="40" name="Shape 2">
            <a:extLst>
              <a:ext uri="{FF2B5EF4-FFF2-40B4-BE49-F238E27FC236}">
                <a16:creationId xmlns:a16="http://schemas.microsoft.com/office/drawing/2014/main" id="{6BD1A0B4-F92C-3F18-F7F0-2FEC6853F3B0}"/>
              </a:ext>
            </a:extLst>
          </p:cNvPr>
          <p:cNvSpPr/>
          <p:nvPr/>
        </p:nvSpPr>
        <p:spPr>
          <a:xfrm>
            <a:off x="2894076" y="4663440"/>
            <a:ext cx="4315460" cy="3306018"/>
          </a:xfrm>
          <a:prstGeom prst="ellipse">
            <a:avLst/>
          </a:prstGeom>
          <a:solidFill>
            <a:srgbClr val="FCD34D">
              <a:alpha val="35000"/>
            </a:srgbClr>
          </a:solidFill>
          <a:ln w="12700">
            <a:solidFill>
              <a:srgbClr val="FCD34D">
                <a:alpha val="35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Masalah &amp; Metodologi</a:t>
            </a:r>
            <a:endParaRPr lang="en-US" sz="2800" dirty="0"/>
          </a:p>
        </p:txBody>
      </p:sp>
      <p:sp>
        <p:nvSpPr>
          <p:cNvPr id="4" name="Shape 2"/>
          <p:cNvSpPr/>
          <p:nvPr/>
        </p:nvSpPr>
        <p:spPr>
          <a:xfrm>
            <a:off x="548640" y="1600200"/>
            <a:ext cx="3520440" cy="4206240"/>
          </a:xfrm>
          <a:prstGeom prst="roundRect">
            <a:avLst>
              <a:gd name="adj" fmla="val 3117"/>
            </a:avLst>
          </a:prstGeom>
          <a:solidFill>
            <a:srgbClr val="FFFFFF"/>
          </a:solidFill>
          <a:ln w="12700">
            <a:solidFill>
              <a:srgbClr val="1C7293"/>
            </a:solidFill>
            <a:prstDash val="solid"/>
          </a:ln>
        </p:spPr>
      </p:sp>
      <p:sp>
        <p:nvSpPr>
          <p:cNvPr id="5" name="Shape 3"/>
          <p:cNvSpPr/>
          <p:nvPr/>
        </p:nvSpPr>
        <p:spPr>
          <a:xfrm>
            <a:off x="548640" y="1600200"/>
            <a:ext cx="3520440" cy="109728"/>
          </a:xfrm>
          <a:prstGeom prst="rect">
            <a:avLst/>
          </a:prstGeom>
          <a:solidFill>
            <a:srgbClr val="F9A826"/>
          </a:solidFill>
          <a:ln/>
        </p:spPr>
      </p:sp>
      <p:sp>
        <p:nvSpPr>
          <p:cNvPr id="6" name="Text 4"/>
          <p:cNvSpPr txBox="1"/>
          <p:nvPr/>
        </p:nvSpPr>
        <p:spPr>
          <a:xfrm>
            <a:off x="777240" y="1874520"/>
            <a:ext cx="3063240" cy="548640"/>
          </a:xfrm>
          <a:prstGeom prst="rect">
            <a:avLst/>
          </a:prstGeom>
          <a:noFill/>
          <a:ln/>
        </p:spPr>
        <p:txBody>
          <a:bodyPr wrap="square" rtlCol="0" anchor="ctr"/>
          <a:lstStyle/>
          <a:p>
            <a:pPr marL="0" indent="0">
              <a:buNone/>
            </a:pPr>
            <a:r>
              <a:rPr lang="en-US" sz="2000" b="1" dirty="0">
                <a:solidFill>
                  <a:srgbClr val="21295C"/>
                </a:solidFill>
              </a:rPr>
              <a:t>Masalah Bisnis</a:t>
            </a:r>
            <a:endParaRPr lang="en-US" sz="2000" dirty="0"/>
          </a:p>
        </p:txBody>
      </p:sp>
      <p:sp>
        <p:nvSpPr>
          <p:cNvPr id="7" name="Text 5"/>
          <p:cNvSpPr txBox="1"/>
          <p:nvPr/>
        </p:nvSpPr>
        <p:spPr>
          <a:xfrm>
            <a:off x="777240" y="2423160"/>
            <a:ext cx="3063240" cy="3200400"/>
          </a:xfrm>
          <a:prstGeom prst="rect">
            <a:avLst/>
          </a:prstGeom>
          <a:noFill/>
          <a:ln/>
        </p:spPr>
        <p:txBody>
          <a:bodyPr wrap="square" rtlCol="0" anchor="t"/>
          <a:lstStyle/>
          <a:p>
            <a:pPr marL="0" indent="0" algn="just">
              <a:lnSpc>
                <a:spcPct val="115000"/>
              </a:lnSpc>
              <a:buNone/>
            </a:pPr>
            <a:r>
              <a:rPr lang="en-US" sz="1400" dirty="0">
                <a:solidFill>
                  <a:srgbClr val="333333"/>
                </a:solidFill>
                <a:latin typeface="Times New Roman" panose="02020603050405020304" pitchFamily="18" charset="0"/>
                <a:ea typeface="Tahoma" panose="020B0604030504040204" pitchFamily="34" charset="0"/>
                <a:cs typeface="Times New Roman" panose="02020603050405020304" pitchFamily="18" charset="0"/>
              </a:rPr>
              <a:t>EduTech ingin memprediksi apakah mahasiswa akan LULUS TEPAT WAKTU, menggunakan 7 fitur: IPK, Kehadiran, Jam Belajar, Organisasi, Penghasilan Ortu, Jenis Kelamin, Status Beasiswa.</a:t>
            </a:r>
            <a:endParaRPr lang="en-US" sz="14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Shape 6"/>
          <p:cNvSpPr/>
          <p:nvPr/>
        </p:nvSpPr>
        <p:spPr>
          <a:xfrm>
            <a:off x="4251960" y="1600200"/>
            <a:ext cx="3520440" cy="4206240"/>
          </a:xfrm>
          <a:prstGeom prst="roundRect">
            <a:avLst>
              <a:gd name="adj" fmla="val 3117"/>
            </a:avLst>
          </a:prstGeom>
          <a:solidFill>
            <a:srgbClr val="FFFFFF"/>
          </a:solidFill>
          <a:ln w="12700">
            <a:solidFill>
              <a:srgbClr val="1C7293"/>
            </a:solidFill>
            <a:prstDash val="solid"/>
          </a:ln>
        </p:spPr>
      </p:sp>
      <p:sp>
        <p:nvSpPr>
          <p:cNvPr id="9" name="Shape 7"/>
          <p:cNvSpPr/>
          <p:nvPr/>
        </p:nvSpPr>
        <p:spPr>
          <a:xfrm>
            <a:off x="4251960" y="1600200"/>
            <a:ext cx="3520440" cy="109728"/>
          </a:xfrm>
          <a:prstGeom prst="rect">
            <a:avLst/>
          </a:prstGeom>
          <a:solidFill>
            <a:srgbClr val="F9A826"/>
          </a:solidFill>
          <a:ln/>
        </p:spPr>
      </p:sp>
      <p:sp>
        <p:nvSpPr>
          <p:cNvPr id="10" name="Text 8"/>
          <p:cNvSpPr txBox="1"/>
          <p:nvPr/>
        </p:nvSpPr>
        <p:spPr>
          <a:xfrm>
            <a:off x="4480560" y="1874520"/>
            <a:ext cx="3063240" cy="548640"/>
          </a:xfrm>
          <a:prstGeom prst="rect">
            <a:avLst/>
          </a:prstGeom>
          <a:noFill/>
          <a:ln/>
        </p:spPr>
        <p:txBody>
          <a:bodyPr wrap="square" rtlCol="0" anchor="ctr"/>
          <a:lstStyle/>
          <a:p>
            <a:pPr marL="0" indent="0">
              <a:buNone/>
            </a:pPr>
            <a:r>
              <a:rPr lang="en-US" sz="2000" b="1" dirty="0">
                <a:solidFill>
                  <a:srgbClr val="21295C"/>
                </a:solidFill>
              </a:rPr>
              <a:t>Dataset &amp; Preprocessing</a:t>
            </a:r>
            <a:endParaRPr lang="en-US" sz="2000" dirty="0"/>
          </a:p>
        </p:txBody>
      </p:sp>
      <p:sp>
        <p:nvSpPr>
          <p:cNvPr id="11" name="Text 9"/>
          <p:cNvSpPr txBox="1"/>
          <p:nvPr/>
        </p:nvSpPr>
        <p:spPr>
          <a:xfrm>
            <a:off x="4480560" y="2423160"/>
            <a:ext cx="3063240" cy="3200400"/>
          </a:xfrm>
          <a:prstGeom prst="rect">
            <a:avLst/>
          </a:prstGeom>
          <a:noFill/>
          <a:ln/>
        </p:spPr>
        <p:txBody>
          <a:bodyPr wrap="square" rtlCol="0" anchor="t"/>
          <a:lstStyle/>
          <a:p>
            <a:pPr marL="0" indent="0" algn="just">
              <a:lnSpc>
                <a:spcPct val="115000"/>
              </a:lnSpc>
              <a:buNone/>
            </a:pPr>
            <a:r>
              <a:rPr lang="en-US" sz="1600" dirty="0">
                <a:solidFill>
                  <a:srgbClr val="333333"/>
                </a:solidFill>
                <a:latin typeface="Times New Roman" panose="02020603050405020304" pitchFamily="18" charset="0"/>
                <a:cs typeface="Times New Roman" panose="02020603050405020304" pitchFamily="18" charset="0"/>
              </a:rPr>
              <a:t>500 data mahasiswa. Missing value diisi median (numerik)/modus (kategorik). Fitur kategorik di-encode jadi angka. Data dibagi latih:uji = 80:20 (stratified).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55280" y="1600200"/>
            <a:ext cx="3520440" cy="4206240"/>
          </a:xfrm>
          <a:prstGeom prst="roundRect">
            <a:avLst>
              <a:gd name="adj" fmla="val 3117"/>
            </a:avLst>
          </a:prstGeom>
          <a:solidFill>
            <a:srgbClr val="FFFFFF"/>
          </a:solidFill>
          <a:ln w="12700">
            <a:solidFill>
              <a:srgbClr val="1C7293"/>
            </a:solidFill>
            <a:prstDash val="solid"/>
          </a:ln>
        </p:spPr>
      </p:sp>
      <p:sp>
        <p:nvSpPr>
          <p:cNvPr id="13" name="Shape 11"/>
          <p:cNvSpPr/>
          <p:nvPr/>
        </p:nvSpPr>
        <p:spPr>
          <a:xfrm>
            <a:off x="7955280" y="1600200"/>
            <a:ext cx="3520440" cy="109728"/>
          </a:xfrm>
          <a:prstGeom prst="rect">
            <a:avLst/>
          </a:prstGeom>
          <a:solidFill>
            <a:srgbClr val="F9A826"/>
          </a:solidFill>
          <a:ln/>
        </p:spPr>
      </p:sp>
      <p:sp>
        <p:nvSpPr>
          <p:cNvPr id="14" name="Text 12"/>
          <p:cNvSpPr txBox="1"/>
          <p:nvPr/>
        </p:nvSpPr>
        <p:spPr>
          <a:xfrm>
            <a:off x="8183880" y="1874520"/>
            <a:ext cx="3063240" cy="548640"/>
          </a:xfrm>
          <a:prstGeom prst="rect">
            <a:avLst/>
          </a:prstGeom>
          <a:noFill/>
          <a:ln/>
        </p:spPr>
        <p:txBody>
          <a:bodyPr wrap="square" rtlCol="0" anchor="ctr"/>
          <a:lstStyle/>
          <a:p>
            <a:pPr marL="0" indent="0">
              <a:buNone/>
            </a:pPr>
            <a:r>
              <a:rPr lang="en-US" sz="2000" b="1" dirty="0">
                <a:solidFill>
                  <a:srgbClr val="21295C"/>
                </a:solidFill>
              </a:rPr>
              <a:t>3 Model Dibandingkan</a:t>
            </a:r>
            <a:endParaRPr lang="en-US" sz="2000" dirty="0"/>
          </a:p>
        </p:txBody>
      </p:sp>
      <p:sp>
        <p:nvSpPr>
          <p:cNvPr id="15" name="Text 13"/>
          <p:cNvSpPr txBox="1"/>
          <p:nvPr/>
        </p:nvSpPr>
        <p:spPr>
          <a:xfrm>
            <a:off x="8183880" y="2423160"/>
            <a:ext cx="3063240" cy="3200400"/>
          </a:xfrm>
          <a:prstGeom prst="rect">
            <a:avLst/>
          </a:prstGeom>
          <a:noFill/>
          <a:ln/>
        </p:spPr>
        <p:txBody>
          <a:bodyPr wrap="square" rtlCol="0" anchor="t"/>
          <a:lstStyle/>
          <a:p>
            <a:pPr marL="0" indent="0" algn="just">
              <a:lnSpc>
                <a:spcPct val="115000"/>
              </a:lnSpc>
              <a:buNone/>
            </a:pPr>
            <a:r>
              <a:rPr lang="en-US" sz="1600" dirty="0">
                <a:solidFill>
                  <a:srgbClr val="333333"/>
                </a:solidFill>
                <a:latin typeface="Times New Roman" panose="02020603050405020304" pitchFamily="18" charset="0"/>
                <a:cs typeface="Times New Roman" panose="02020603050405020304" pitchFamily="18" charset="0"/>
              </a:rPr>
              <a:t>Decision Tree (max_depth=3), Decision Tree (max_depth=None), dan Gaussian Naive Bayes — dievaluasi dengan Akurasi, Precision, Recall, F1-Score, dan Confusion Matrix.</a:t>
            </a:r>
            <a:endParaRPr lang="en-US" sz="1600" dirty="0">
              <a:latin typeface="Times New Roman" panose="02020603050405020304" pitchFamily="18" charset="0"/>
              <a:cs typeface="Times New Roman" panose="02020603050405020304" pitchFamily="18" charset="0"/>
            </a:endParaRPr>
          </a:p>
        </p:txBody>
      </p:sp>
      <p:sp>
        <p:nvSpPr>
          <p:cNvPr id="16" name="Text 14"/>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Hasil Evaluasi — Metrik</a:t>
            </a:r>
            <a:endParaRPr lang="en-US" sz="2800" dirty="0"/>
          </a:p>
        </p:txBody>
      </p:sp>
      <p:pic>
        <p:nvPicPr>
          <p:cNvPr id="4" name="Image 0" descr="perbandingan_metrik.png"/>
          <p:cNvPicPr>
            <a:picLocks noChangeAspect="1"/>
          </p:cNvPicPr>
          <p:nvPr/>
        </p:nvPicPr>
        <p:blipFill>
          <a:blip r:embed="rId3"/>
          <a:stretch>
            <a:fillRect/>
          </a:stretch>
        </p:blipFill>
        <p:spPr>
          <a:xfrm>
            <a:off x="457200" y="1417320"/>
            <a:ext cx="6675120" cy="4087368"/>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06640" y="1600200"/>
          <a:ext cx="4297680" cy="1828800"/>
        </p:xfrm>
        <a:graphic>
          <a:graphicData uri="http://schemas.openxmlformats.org/drawingml/2006/table">
            <a:tbl>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rPr>
                        <a:t>Model</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buNone/>
                      </a:pPr>
                      <a:r>
                        <a:rPr lang="en-US" sz="1200" b="1" dirty="0">
                          <a:solidFill>
                            <a:srgbClr val="FFFFFF"/>
                          </a:solidFill>
                        </a:rPr>
                        <a:t>Akurasi</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buNone/>
                      </a:pPr>
                      <a:r>
                        <a:rPr lang="en-US" sz="1200" b="1" dirty="0">
                          <a:solidFill>
                            <a:srgbClr val="FFFFFF"/>
                          </a:solidFill>
                        </a:rPr>
                        <a:t>F1-Score</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000000"/>
                          </a:solidFill>
                        </a:rPr>
                        <a:t>DT (depth=3)</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0.670</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0.776</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dirty="0">
                          <a:solidFill>
                            <a:srgbClr val="000000"/>
                          </a:solidFill>
                        </a:rPr>
                        <a:t>DT (depth=None)</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0.490</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0.598</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00" dirty="0">
                          <a:solidFill>
                            <a:srgbClr val="000000"/>
                          </a:solidFill>
                        </a:rPr>
                        <a:t>Gaussian NB</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0.670</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000000"/>
                          </a:solidFill>
                        </a:rPr>
                        <a:t>0.759</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7406640" y="3703320"/>
            <a:ext cx="4297680" cy="1417320"/>
          </a:xfrm>
          <a:prstGeom prst="roundRect">
            <a:avLst>
              <a:gd name="adj" fmla="val 7742"/>
            </a:avLst>
          </a:prstGeom>
          <a:solidFill>
            <a:srgbClr val="F2F5F7"/>
          </a:solidFill>
          <a:ln w="9525">
            <a:solidFill>
              <a:srgbClr val="1C7293"/>
            </a:solidFill>
            <a:prstDash val="solid"/>
          </a:ln>
        </p:spPr>
      </p:sp>
      <p:sp>
        <p:nvSpPr>
          <p:cNvPr id="7" name="Text 3"/>
          <p:cNvSpPr txBox="1"/>
          <p:nvPr/>
        </p:nvSpPr>
        <p:spPr>
          <a:xfrm>
            <a:off x="7589520" y="3794760"/>
            <a:ext cx="3931920" cy="1234440"/>
          </a:xfrm>
          <a:prstGeom prst="rect">
            <a:avLst/>
          </a:prstGeom>
          <a:noFill/>
          <a:ln/>
        </p:spPr>
        <p:txBody>
          <a:bodyPr wrap="square" rtlCol="0" anchor="t"/>
          <a:lstStyle/>
          <a:p>
            <a:pPr marL="0" indent="0">
              <a:buNone/>
            </a:pPr>
            <a:r>
              <a:rPr lang="en-US" sz="1050" b="1" dirty="0">
                <a:solidFill>
                  <a:srgbClr val="333333"/>
                </a:solidFill>
              </a:rPr>
              <a:t>Cara baca:  </a:t>
            </a:r>
            <a:r>
              <a:rPr lang="en-US" sz="1050" dirty="0">
                <a:solidFill>
                  <a:srgbClr val="333333"/>
                </a:solidFill>
              </a:rPr>
              <a:t>Akurasi = persen tebakan benar. Precision = dari yang ditebak 'Ya', berapa % benar. Recall = dari yang aktualnya 'Ya', berapa % ketebak. F1 = gabungan precision &amp; recall.</a:t>
            </a:r>
            <a:endParaRPr lang="en-US" sz="1050" dirty="0"/>
          </a:p>
        </p:txBody>
      </p:sp>
      <p:sp>
        <p:nvSpPr>
          <p:cNvPr id="8" name="Text 4"/>
          <p:cNvSpPr txBox="1"/>
          <p:nvPr/>
        </p:nvSpPr>
        <p:spPr>
          <a:xfrm>
            <a:off x="7406640" y="5257800"/>
            <a:ext cx="4297680" cy="1188720"/>
          </a:xfrm>
          <a:prstGeom prst="rect">
            <a:avLst/>
          </a:prstGeom>
          <a:noFill/>
          <a:ln/>
        </p:spPr>
        <p:txBody>
          <a:bodyPr wrap="square" rtlCol="0" anchor="t"/>
          <a:lstStyle/>
          <a:p>
            <a:pPr marL="0" indent="0">
              <a:buNone/>
            </a:pPr>
            <a:r>
              <a:rPr lang="en-US" sz="1200" b="1" dirty="0">
                <a:solidFill>
                  <a:srgbClr val="21295C"/>
                </a:solidFill>
              </a:rPr>
              <a:t>Insight: Decision Tree tanpa batas </a:t>
            </a:r>
            <a:r>
              <a:rPr lang="en-US" sz="1200" b="1" dirty="0" err="1">
                <a:solidFill>
                  <a:srgbClr val="21295C"/>
                </a:solidFill>
              </a:rPr>
              <a:t>kedalaman</a:t>
            </a:r>
            <a:r>
              <a:rPr lang="en-US" sz="1200" b="1" dirty="0">
                <a:solidFill>
                  <a:srgbClr val="21295C"/>
                </a:solidFill>
              </a:rPr>
              <a:t> OVERFIT,  akurasi uji paling rendah (0.49). DT (depth=3) &amp; Naive Bayes setara akurasi (0.67).</a:t>
            </a:r>
            <a:endParaRPr lang="en-US" sz="1200" dirty="0"/>
          </a:p>
        </p:txBody>
      </p:sp>
      <p:sp>
        <p:nvSpPr>
          <p:cNvPr id="9" name="Text 5"/>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Confusion Matrix Ketiga Model</a:t>
            </a:r>
            <a:endParaRPr lang="en-US" sz="2800" dirty="0"/>
          </a:p>
        </p:txBody>
      </p:sp>
      <p:pic>
        <p:nvPicPr>
          <p:cNvPr id="4" name="Image 0" descr="confusion_matrices.png"/>
          <p:cNvPicPr>
            <a:picLocks noChangeAspect="1"/>
          </p:cNvPicPr>
          <p:nvPr/>
        </p:nvPicPr>
        <p:blipFill>
          <a:blip r:embed="rId3"/>
          <a:stretch>
            <a:fillRect/>
          </a:stretch>
        </p:blipFill>
        <p:spPr>
          <a:xfrm>
            <a:off x="822960" y="1554480"/>
            <a:ext cx="10515600" cy="3154680"/>
          </a:xfrm>
          <a:prstGeom prst="rect">
            <a:avLst/>
          </a:prstGeom>
        </p:spPr>
      </p:pic>
      <p:sp>
        <p:nvSpPr>
          <p:cNvPr id="5" name="Shape 2"/>
          <p:cNvSpPr/>
          <p:nvPr/>
        </p:nvSpPr>
        <p:spPr>
          <a:xfrm>
            <a:off x="822960" y="4892040"/>
            <a:ext cx="10515600" cy="1234440"/>
          </a:xfrm>
          <a:prstGeom prst="roundRect">
            <a:avLst>
              <a:gd name="adj" fmla="val 8889"/>
            </a:avLst>
          </a:prstGeom>
          <a:solidFill>
            <a:srgbClr val="F2F5F7"/>
          </a:solidFill>
          <a:ln w="9525">
            <a:solidFill>
              <a:srgbClr val="1C7293"/>
            </a:solidFill>
            <a:prstDash val="solid"/>
          </a:ln>
        </p:spPr>
      </p:sp>
      <p:sp>
        <p:nvSpPr>
          <p:cNvPr id="6" name="Text 3"/>
          <p:cNvSpPr txBox="1"/>
          <p:nvPr/>
        </p:nvSpPr>
        <p:spPr>
          <a:xfrm>
            <a:off x="1051560" y="5029200"/>
            <a:ext cx="10058400" cy="960120"/>
          </a:xfrm>
          <a:prstGeom prst="rect">
            <a:avLst/>
          </a:prstGeom>
          <a:noFill/>
          <a:ln/>
        </p:spPr>
        <p:txBody>
          <a:bodyPr wrap="square" rtlCol="0" anchor="t"/>
          <a:lstStyle/>
          <a:p>
            <a:pPr marL="0" indent="0">
              <a:buNone/>
            </a:pPr>
            <a:r>
              <a:rPr lang="en-US" sz="1200" b="1" dirty="0">
                <a:solidFill>
                  <a:srgbClr val="333333"/>
                </a:solidFill>
              </a:rPr>
              <a:t>Jadi:  </a:t>
            </a:r>
            <a:r>
              <a:rPr lang="en-US" sz="1200" dirty="0">
                <a:solidFill>
                  <a:srgbClr val="333333"/>
                </a:solidFill>
              </a:rPr>
              <a:t>Baris = jawaban aktual, kolom = tebakan model. Angka di diagonal (kiri-atas &amp; kanan-bawah) = tebakan BENAR. Angka di luar diagonal = tebakan SALAH. Makin banyak di diagonal, makin bagus.</a:t>
            </a:r>
            <a:endParaRPr lang="en-US" sz="1200" dirty="0"/>
          </a:p>
        </p:txBody>
      </p:sp>
      <p:sp>
        <p:nvSpPr>
          <p:cNvPr id="7" name="Text 4"/>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Visualisasi Pohon Keputusan (max_depth=3)</a:t>
            </a:r>
            <a:endParaRPr lang="en-US" sz="2800" dirty="0"/>
          </a:p>
        </p:txBody>
      </p:sp>
      <p:pic>
        <p:nvPicPr>
          <p:cNvPr id="4" name="Image 0" descr="decision_tree_depth3.png"/>
          <p:cNvPicPr>
            <a:picLocks noChangeAspect="1"/>
          </p:cNvPicPr>
          <p:nvPr/>
        </p:nvPicPr>
        <p:blipFill>
          <a:blip r:embed="rId3"/>
          <a:stretch>
            <a:fillRect/>
          </a:stretch>
        </p:blipFill>
        <p:spPr>
          <a:xfrm>
            <a:off x="548640" y="1417320"/>
            <a:ext cx="11064240" cy="4434840"/>
          </a:xfrm>
          <a:prstGeom prst="rect">
            <a:avLst/>
          </a:prstGeom>
        </p:spPr>
      </p:pic>
      <p:sp>
        <p:nvSpPr>
          <p:cNvPr id="5" name="Text 2"/>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err="1">
                <a:solidFill>
                  <a:srgbClr val="FFFFFF"/>
                </a:solidFill>
                <a:latin typeface="Georgia" pitchFamily="34" charset="0"/>
                <a:ea typeface="Georgia" pitchFamily="34" charset="-122"/>
                <a:cs typeface="Georgia" pitchFamily="34" charset="-120"/>
              </a:rPr>
              <a:t>Analisis</a:t>
            </a:r>
            <a:r>
              <a:rPr lang="en-US" sz="2800" b="1" dirty="0">
                <a:solidFill>
                  <a:srgbClr val="FFFFFF"/>
                </a:solidFill>
                <a:latin typeface="Georgia" pitchFamily="34" charset="0"/>
                <a:ea typeface="Georgia" pitchFamily="34" charset="-122"/>
                <a:cs typeface="Georgia" pitchFamily="34" charset="-120"/>
              </a:rPr>
              <a:t> Error, 5 Data Salah Prediksi</a:t>
            </a:r>
            <a:endParaRPr lang="en-US" sz="2800" dirty="0"/>
          </a:p>
        </p:txBody>
      </p:sp>
      <p:sp>
        <p:nvSpPr>
          <p:cNvPr id="4" name="Text 2"/>
          <p:cNvSpPr txBox="1"/>
          <p:nvPr/>
        </p:nvSpPr>
        <p:spPr>
          <a:xfrm>
            <a:off x="548640" y="1371600"/>
            <a:ext cx="11064240" cy="365760"/>
          </a:xfrm>
          <a:prstGeom prst="rect">
            <a:avLst/>
          </a:prstGeom>
          <a:noFill/>
          <a:ln/>
        </p:spPr>
        <p:txBody>
          <a:bodyPr wrap="square" rtlCol="0" anchor="ctr"/>
          <a:lstStyle/>
          <a:p>
            <a:pPr marL="0" indent="0">
              <a:buNone/>
            </a:pPr>
            <a:r>
              <a:rPr lang="en-US" sz="1300" i="1" dirty="0">
                <a:solidFill>
                  <a:srgbClr val="1C7293"/>
                </a:solidFill>
              </a:rPr>
              <a:t>Diambil dari Decision Tree (max_depth=None), model yang paling overfitting:</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874520"/>
          <a:ext cx="8229600" cy="201168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35280">
                <a:tc>
                  <a:txBody>
                    <a:bodyPr/>
                    <a:lstStyle/>
                    <a:p>
                      <a:pPr marL="0" indent="0" algn="ctr">
                        <a:buNone/>
                      </a:pPr>
                      <a:r>
                        <a:rPr lang="en-US" sz="1200" b="1" dirty="0">
                          <a:solidFill>
                            <a:srgbClr val="FFFFFF"/>
                          </a:solidFill>
                        </a:rPr>
                        <a:t>IPK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rPr>
                        <a:t>Kehadiran</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rPr>
                        <a:t>Jam Belajar</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rPr>
                        <a:t>Aktual</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tc>
                  <a:txBody>
                    <a:bodyPr/>
                    <a:lstStyle/>
                    <a:p>
                      <a:pPr marL="0" indent="0" algn="ctr">
                        <a:buNone/>
                      </a:pPr>
                      <a:r>
                        <a:rPr lang="en-US" sz="1200" b="1" dirty="0">
                          <a:solidFill>
                            <a:srgbClr val="FFFFFF"/>
                          </a:solidFill>
                        </a:rPr>
                        <a:t>Prediksi</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35280">
                <a:tc>
                  <a:txBody>
                    <a:bodyPr/>
                    <a:lstStyle/>
                    <a:p>
                      <a:pPr marL="0" indent="0" algn="ctr">
                        <a:buNone/>
                      </a:pPr>
                      <a:r>
                        <a:rPr lang="en-US" sz="1200" dirty="0">
                          <a:solidFill>
                            <a:srgbClr val="000000"/>
                          </a:solidFill>
                        </a:rPr>
                        <a:t>3.24</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64.1</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26.0</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Tidak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Ya</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lgn="ctr">
                        <a:buNone/>
                      </a:pPr>
                      <a:r>
                        <a:rPr lang="en-US" sz="1200" dirty="0">
                          <a:solidFill>
                            <a:srgbClr val="000000"/>
                          </a:solidFill>
                        </a:rPr>
                        <a:t>3.53</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85.3</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27.4</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Tidak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Ya</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35280">
                <a:tc>
                  <a:txBody>
                    <a:bodyPr/>
                    <a:lstStyle/>
                    <a:p>
                      <a:pPr marL="0" indent="0" algn="ctr">
                        <a:buNone/>
                      </a:pPr>
                      <a:r>
                        <a:rPr lang="en-US" sz="1200" dirty="0">
                          <a:solidFill>
                            <a:srgbClr val="000000"/>
                          </a:solidFill>
                        </a:rPr>
                        <a:t>2.55</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82.1</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25.3</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Tidak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Ya</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35280">
                <a:tc>
                  <a:txBody>
                    <a:bodyPr/>
                    <a:lstStyle/>
                    <a:p>
                      <a:pPr marL="0" indent="0" algn="ctr">
                        <a:buNone/>
                      </a:pPr>
                      <a:r>
                        <a:rPr lang="en-US" sz="1200" dirty="0">
                          <a:solidFill>
                            <a:srgbClr val="000000"/>
                          </a:solidFill>
                        </a:rPr>
                        <a:t>3.05</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82.9</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19.2</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Ya</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Tidak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35280">
                <a:tc>
                  <a:txBody>
                    <a:bodyPr/>
                    <a:lstStyle/>
                    <a:p>
                      <a:pPr marL="0" indent="0" algn="ctr">
                        <a:buNone/>
                      </a:pPr>
                      <a:r>
                        <a:rPr lang="en-US" sz="1200" dirty="0">
                          <a:solidFill>
                            <a:srgbClr val="000000"/>
                          </a:solidFill>
                        </a:rPr>
                        <a:t>3.66</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74.6</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12.3</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Ya</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rPr>
                        <a:t>Tidak</a:t>
                      </a:r>
                      <a:endParaRPr lang="en-US" sz="12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822960" y="4114800"/>
            <a:ext cx="10515600" cy="1965960"/>
          </a:xfrm>
          <a:prstGeom prst="roundRect">
            <a:avLst>
              <a:gd name="adj" fmla="val 5581"/>
            </a:avLst>
          </a:prstGeom>
          <a:solidFill>
            <a:srgbClr val="FFFFFF"/>
          </a:solidFill>
          <a:ln w="9525">
            <a:solidFill>
              <a:srgbClr val="1C7293"/>
            </a:solidFill>
            <a:prstDash val="solid"/>
          </a:ln>
        </p:spPr>
      </p:sp>
      <p:sp>
        <p:nvSpPr>
          <p:cNvPr id="7" name="Text 4"/>
          <p:cNvSpPr txBox="1"/>
          <p:nvPr/>
        </p:nvSpPr>
        <p:spPr>
          <a:xfrm>
            <a:off x="1051560" y="4251960"/>
            <a:ext cx="10058400" cy="1737360"/>
          </a:xfrm>
          <a:prstGeom prst="rect">
            <a:avLst/>
          </a:prstGeom>
          <a:noFill/>
          <a:ln/>
        </p:spPr>
        <p:txBody>
          <a:bodyPr wrap="square" rtlCol="0" anchor="t"/>
          <a:lstStyle/>
          <a:p>
            <a:pPr marL="0" indent="0">
              <a:spcAft>
                <a:spcPts val="400"/>
              </a:spcAft>
              <a:buNone/>
            </a:pPr>
            <a:r>
              <a:rPr lang="en-US" sz="1200" b="1" dirty="0">
                <a:solidFill>
                  <a:srgbClr val="333333"/>
                </a:solidFill>
              </a:rPr>
              <a:t>Kenapa salah?  </a:t>
            </a:r>
            <a:endParaRPr lang="en-US" sz="1200" dirty="0"/>
          </a:p>
          <a:p>
            <a:pPr marL="342900" indent="-342900">
              <a:spcAft>
                <a:spcPts val="400"/>
              </a:spcAft>
              <a:buSzPct val="100000"/>
              <a:buChar char="•"/>
            </a:pPr>
            <a:r>
              <a:rPr lang="en-US" sz="1200" dirty="0">
                <a:solidFill>
                  <a:srgbClr val="333333"/>
                </a:solidFill>
              </a:rPr>
              <a:t>3 baris pertama: IPK cukup tinggi + jam belajar tinggi → pohon 'menghafal' pola spesifik data latih (menganggap ini pasti lulus tepat waktu), padahal aktualnya tidak.</a:t>
            </a:r>
            <a:endParaRPr lang="en-US" sz="1200" dirty="0"/>
          </a:p>
          <a:p>
            <a:pPr marL="342900" indent="-342900">
              <a:spcAft>
                <a:spcPts val="400"/>
              </a:spcAft>
              <a:buSzPct val="100000"/>
              <a:buChar char="•"/>
            </a:pPr>
            <a:r>
              <a:rPr lang="en-US" sz="1200" dirty="0">
                <a:solidFill>
                  <a:srgbClr val="333333"/>
                </a:solidFill>
              </a:rPr>
              <a:t>2 baris terakhir: IPK tinggi tapi jam belajar rendah → pohon terlalu yakin faktor jam belajar rendah = tidak lulus tepat waktu, padahal ada faktor lain di luar data yang membuat mahasiswa ini tetap lulus tepat waktu.</a:t>
            </a:r>
            <a:endParaRPr lang="en-US" sz="1200" dirty="0"/>
          </a:p>
        </p:txBody>
      </p:sp>
      <p:sp>
        <p:nvSpPr>
          <p:cNvPr id="5" name="Text 5"/>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065A82"/>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Rekomendasi Model</a:t>
            </a:r>
            <a:endParaRPr lang="en-US" sz="2800" dirty="0"/>
          </a:p>
        </p:txBody>
      </p:sp>
      <p:sp>
        <p:nvSpPr>
          <p:cNvPr id="4" name="Shape 2"/>
          <p:cNvSpPr/>
          <p:nvPr/>
        </p:nvSpPr>
        <p:spPr>
          <a:xfrm>
            <a:off x="548640" y="1554480"/>
            <a:ext cx="5394960" cy="4114800"/>
          </a:xfrm>
          <a:prstGeom prst="roundRect">
            <a:avLst>
              <a:gd name="adj" fmla="val 2667"/>
            </a:avLst>
          </a:prstGeom>
          <a:solidFill>
            <a:srgbClr val="FFFFFF"/>
          </a:solidFill>
          <a:ln w="25400">
            <a:solidFill>
              <a:srgbClr val="F9A826"/>
            </a:solidFill>
            <a:prstDash val="solid"/>
          </a:ln>
        </p:spPr>
      </p:sp>
      <p:sp>
        <p:nvSpPr>
          <p:cNvPr id="5" name="Text 3"/>
          <p:cNvSpPr txBox="1"/>
          <p:nvPr/>
        </p:nvSpPr>
        <p:spPr>
          <a:xfrm>
            <a:off x="822960" y="1783080"/>
            <a:ext cx="4937760" cy="457200"/>
          </a:xfrm>
          <a:prstGeom prst="rect">
            <a:avLst/>
          </a:prstGeom>
          <a:noFill/>
          <a:ln/>
        </p:spPr>
        <p:txBody>
          <a:bodyPr wrap="square" rtlCol="0" anchor="ctr"/>
          <a:lstStyle/>
          <a:p>
            <a:pPr marL="0" indent="0">
              <a:buNone/>
            </a:pPr>
            <a:r>
              <a:rPr lang="en-US" sz="1800" b="1" dirty="0">
                <a:solidFill>
                  <a:srgbClr val="21295C"/>
                </a:solidFill>
              </a:rPr>
              <a:t>Gaussian Naive Bayes</a:t>
            </a:r>
            <a:endParaRPr lang="en-US" sz="1800" dirty="0"/>
          </a:p>
        </p:txBody>
      </p:sp>
      <p:sp>
        <p:nvSpPr>
          <p:cNvPr id="6" name="Text 4"/>
          <p:cNvSpPr txBox="1"/>
          <p:nvPr/>
        </p:nvSpPr>
        <p:spPr>
          <a:xfrm>
            <a:off x="822960" y="2331720"/>
            <a:ext cx="4937760" cy="3200400"/>
          </a:xfrm>
          <a:prstGeom prst="rect">
            <a:avLst/>
          </a:prstGeom>
          <a:noFill/>
          <a:ln/>
        </p:spPr>
        <p:txBody>
          <a:bodyPr wrap="square" rtlCol="0" anchor="t"/>
          <a:lstStyle/>
          <a:p>
            <a:pPr marL="0" indent="0">
              <a:spcAft>
                <a:spcPts val="800"/>
              </a:spcAft>
              <a:buNone/>
            </a:pPr>
            <a:r>
              <a:rPr lang="en-US" sz="1250" b="1" dirty="0">
                <a:solidFill>
                  <a:srgbClr val="333333"/>
                </a:solidFill>
              </a:rPr>
              <a:t>Model utama untuk prediksi risiko</a:t>
            </a:r>
            <a:endParaRPr lang="en-US" sz="1250" dirty="0"/>
          </a:p>
          <a:p>
            <a:pPr marL="342900" indent="-342900">
              <a:spcAft>
                <a:spcPts val="800"/>
              </a:spcAft>
              <a:buSzPct val="100000"/>
              <a:buChar char="•"/>
            </a:pPr>
            <a:r>
              <a:rPr lang="en-US" sz="1250" dirty="0">
                <a:solidFill>
                  <a:srgbClr val="333333"/>
                </a:solidFill>
              </a:rPr>
              <a:t>Macro F1-score lebih tinggi (0.62 vs 0.58)</a:t>
            </a:r>
            <a:endParaRPr lang="en-US" sz="1250" dirty="0"/>
          </a:p>
          <a:p>
            <a:pPr marL="342900" indent="-342900">
              <a:spcAft>
                <a:spcPts val="800"/>
              </a:spcAft>
              <a:buSzPct val="100000"/>
              <a:buChar char="•"/>
            </a:pPr>
            <a:r>
              <a:rPr lang="en-US" sz="1250" dirty="0">
                <a:solidFill>
                  <a:srgbClr val="333333"/>
                </a:solidFill>
              </a:rPr>
              <a:t>Recall kelas 'Tidak lulus tepat waktu' lebih baik (0.39 vs 0.26) -&gt; lebih peka mendeteksi mahasiswa berisiko</a:t>
            </a:r>
            <a:endParaRPr lang="en-US" sz="1250" dirty="0"/>
          </a:p>
          <a:p>
            <a:pPr marL="342900" indent="-342900">
              <a:spcAft>
                <a:spcPts val="800"/>
              </a:spcAft>
              <a:buSzPct val="100000"/>
              <a:buChar char="•"/>
            </a:pPr>
            <a:r>
              <a:rPr lang="en-US" sz="1250" dirty="0">
                <a:solidFill>
                  <a:srgbClr val="333333"/>
                </a:solidFill>
              </a:rPr>
              <a:t>Penting untuk intervensi/bimbingan akademik dini</a:t>
            </a:r>
            <a:endParaRPr lang="en-US" sz="1250" dirty="0"/>
          </a:p>
        </p:txBody>
      </p:sp>
      <p:sp>
        <p:nvSpPr>
          <p:cNvPr id="7" name="Shape 5"/>
          <p:cNvSpPr/>
          <p:nvPr/>
        </p:nvSpPr>
        <p:spPr>
          <a:xfrm>
            <a:off x="6217920" y="1554480"/>
            <a:ext cx="5394960" cy="4114800"/>
          </a:xfrm>
          <a:prstGeom prst="roundRect">
            <a:avLst>
              <a:gd name="adj" fmla="val 2667"/>
            </a:avLst>
          </a:prstGeom>
          <a:solidFill>
            <a:srgbClr val="FFFFFF"/>
          </a:solidFill>
          <a:ln w="12700">
            <a:solidFill>
              <a:srgbClr val="1C7293"/>
            </a:solidFill>
            <a:prstDash val="solid"/>
          </a:ln>
        </p:spPr>
      </p:sp>
      <p:sp>
        <p:nvSpPr>
          <p:cNvPr id="8" name="Text 6"/>
          <p:cNvSpPr txBox="1"/>
          <p:nvPr/>
        </p:nvSpPr>
        <p:spPr>
          <a:xfrm>
            <a:off x="6492240" y="1783080"/>
            <a:ext cx="4937760" cy="457200"/>
          </a:xfrm>
          <a:prstGeom prst="rect">
            <a:avLst/>
          </a:prstGeom>
          <a:noFill/>
          <a:ln/>
        </p:spPr>
        <p:txBody>
          <a:bodyPr wrap="square" rtlCol="0" anchor="ctr"/>
          <a:lstStyle/>
          <a:p>
            <a:pPr marL="0" indent="0">
              <a:buNone/>
            </a:pPr>
            <a:r>
              <a:rPr lang="en-US" sz="1800" b="1" dirty="0">
                <a:solidFill>
                  <a:srgbClr val="21295C"/>
                </a:solidFill>
              </a:rPr>
              <a:t>Decision Tree (max_depth=3)</a:t>
            </a:r>
            <a:endParaRPr lang="en-US" sz="1800" dirty="0"/>
          </a:p>
        </p:txBody>
      </p:sp>
      <p:sp>
        <p:nvSpPr>
          <p:cNvPr id="9" name="Text 7"/>
          <p:cNvSpPr txBox="1"/>
          <p:nvPr/>
        </p:nvSpPr>
        <p:spPr>
          <a:xfrm>
            <a:off x="6492240" y="2331720"/>
            <a:ext cx="4937760" cy="3200400"/>
          </a:xfrm>
          <a:prstGeom prst="rect">
            <a:avLst/>
          </a:prstGeom>
          <a:noFill/>
          <a:ln/>
        </p:spPr>
        <p:txBody>
          <a:bodyPr wrap="square" rtlCol="0" anchor="t"/>
          <a:lstStyle/>
          <a:p>
            <a:pPr marL="0" indent="0">
              <a:spcAft>
                <a:spcPts val="800"/>
              </a:spcAft>
              <a:buNone/>
            </a:pPr>
            <a:r>
              <a:rPr lang="en-US" sz="1250" b="1" dirty="0">
                <a:solidFill>
                  <a:srgbClr val="333333"/>
                </a:solidFill>
              </a:rPr>
              <a:t>Pendamping untuk interpretasi</a:t>
            </a:r>
            <a:endParaRPr lang="en-US" sz="1250" dirty="0"/>
          </a:p>
          <a:p>
            <a:pPr marL="342900" indent="-342900">
              <a:spcAft>
                <a:spcPts val="800"/>
              </a:spcAft>
              <a:buSzPct val="100000"/>
              <a:buChar char="•"/>
            </a:pPr>
            <a:r>
              <a:rPr lang="en-US" sz="1250" dirty="0">
                <a:solidFill>
                  <a:srgbClr val="333333"/>
                </a:solidFill>
              </a:rPr>
              <a:t>Recall kelas 'Ya' tertinggi (0.92)</a:t>
            </a:r>
            <a:endParaRPr lang="en-US" sz="1250" dirty="0"/>
          </a:p>
          <a:p>
            <a:pPr marL="342900" indent="-342900">
              <a:spcAft>
                <a:spcPts val="800"/>
              </a:spcAft>
              <a:buSzPct val="100000"/>
              <a:buChar char="•"/>
            </a:pPr>
            <a:r>
              <a:rPr lang="en-US" sz="1250" dirty="0">
                <a:solidFill>
                  <a:srgbClr val="333333"/>
                </a:solidFill>
              </a:rPr>
              <a:t>Aturan if-else mudah dijelaskan ke dosen wali / mahasiswa</a:t>
            </a:r>
            <a:endParaRPr lang="en-US" sz="1250" dirty="0"/>
          </a:p>
          <a:p>
            <a:pPr marL="342900" indent="-342900">
              <a:spcAft>
                <a:spcPts val="800"/>
              </a:spcAft>
              <a:buSzPct val="100000"/>
              <a:buChar char="•"/>
            </a:pPr>
            <a:r>
              <a:rPr lang="en-US" sz="1250" dirty="0">
                <a:solidFill>
                  <a:srgbClr val="333333"/>
                </a:solidFill>
              </a:rPr>
              <a:t>Cocok untuk komunikasi &amp; transparansi keputusan</a:t>
            </a:r>
            <a:endParaRPr lang="en-US" sz="1250" dirty="0"/>
          </a:p>
        </p:txBody>
      </p:sp>
      <p:sp>
        <p:nvSpPr>
          <p:cNvPr id="10" name="Text 8"/>
          <p:cNvSpPr txBox="1"/>
          <p:nvPr/>
        </p:nvSpPr>
        <p:spPr>
          <a:xfrm>
            <a:off x="548640" y="5806440"/>
            <a:ext cx="11064240" cy="548640"/>
          </a:xfrm>
          <a:prstGeom prst="rect">
            <a:avLst/>
          </a:prstGeom>
          <a:noFill/>
          <a:ln/>
        </p:spPr>
        <p:txBody>
          <a:bodyPr wrap="square" rtlCol="0" anchor="ctr"/>
          <a:lstStyle/>
          <a:p>
            <a:pPr marL="0" indent="0">
              <a:buNone/>
            </a:pPr>
            <a:r>
              <a:rPr lang="en-US" sz="1200" i="1" dirty="0">
                <a:solidFill>
                  <a:srgbClr val="1C7293"/>
                </a:solidFill>
              </a:rPr>
              <a:t> kedua model (akurasi ~67%) digunakan sebagai decision-support, bukan penentu tunggal — perlu didampingi fitur tambahan &amp; judgment akademik manusia.</a:t>
            </a:r>
            <a:endParaRPr lang="en-US" sz="1200" dirty="0"/>
          </a:p>
        </p:txBody>
      </p:sp>
      <p:sp>
        <p:nvSpPr>
          <p:cNvPr id="11" name="Text 9"/>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1295C"/>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Etika &amp; Bias</a:t>
            </a:r>
            <a:endParaRPr lang="en-US" sz="2800" dirty="0"/>
          </a:p>
        </p:txBody>
      </p:sp>
      <p:sp>
        <p:nvSpPr>
          <p:cNvPr id="4" name="Shape 2"/>
          <p:cNvSpPr/>
          <p:nvPr/>
        </p:nvSpPr>
        <p:spPr>
          <a:xfrm>
            <a:off x="822960" y="1554480"/>
            <a:ext cx="10515600" cy="4480560"/>
          </a:xfrm>
          <a:prstGeom prst="roundRect">
            <a:avLst>
              <a:gd name="adj" fmla="val 2449"/>
            </a:avLst>
          </a:prstGeom>
          <a:solidFill>
            <a:srgbClr val="2B356E"/>
          </a:solidFill>
          <a:ln w="12700">
            <a:solidFill>
              <a:srgbClr val="1C7293"/>
            </a:solidFill>
            <a:prstDash val="solid"/>
          </a:ln>
        </p:spPr>
      </p:sp>
      <p:sp>
        <p:nvSpPr>
          <p:cNvPr id="5" name="Text 3"/>
          <p:cNvSpPr txBox="1"/>
          <p:nvPr/>
        </p:nvSpPr>
        <p:spPr>
          <a:xfrm>
            <a:off x="1097280" y="1783080"/>
            <a:ext cx="10058400" cy="457200"/>
          </a:xfrm>
          <a:prstGeom prst="rect">
            <a:avLst/>
          </a:prstGeom>
          <a:noFill/>
          <a:ln/>
        </p:spPr>
        <p:txBody>
          <a:bodyPr wrap="square" rtlCol="0" anchor="ctr"/>
          <a:lstStyle/>
          <a:p>
            <a:pPr marL="0" indent="0">
              <a:buNone/>
            </a:pPr>
            <a:r>
              <a:rPr lang="en-US" sz="1800" b="1" dirty="0">
                <a:solidFill>
                  <a:srgbClr val="F9A826"/>
                </a:solidFill>
              </a:rPr>
              <a:t>Risiko Bias</a:t>
            </a:r>
            <a:endParaRPr lang="en-US" sz="1800" dirty="0"/>
          </a:p>
        </p:txBody>
      </p:sp>
      <p:sp>
        <p:nvSpPr>
          <p:cNvPr id="6" name="Text 4"/>
          <p:cNvSpPr txBox="1"/>
          <p:nvPr/>
        </p:nvSpPr>
        <p:spPr>
          <a:xfrm>
            <a:off x="1097280" y="2286000"/>
            <a:ext cx="10058400" cy="1737360"/>
          </a:xfrm>
          <a:prstGeom prst="rect">
            <a:avLst/>
          </a:prstGeom>
          <a:noFill/>
          <a:ln/>
        </p:spPr>
        <p:txBody>
          <a:bodyPr wrap="square" rtlCol="0" anchor="t"/>
          <a:lstStyle/>
          <a:p>
            <a:pPr marL="342900" indent="-342900">
              <a:spcAft>
                <a:spcPts val="600"/>
              </a:spcAft>
              <a:buSzPct val="100000"/>
              <a:buChar char="•"/>
            </a:pPr>
            <a:r>
              <a:rPr lang="en-US" sz="1300" dirty="0">
                <a:solidFill>
                  <a:srgbClr val="FFFFFF"/>
                </a:solidFill>
              </a:rPr>
              <a:t>Fitur Penghasilan_Ortu &amp; Jenis_Kelamin rawan jadi proxy diskriminasi jika dipakai untuk seleksi beasiswa.</a:t>
            </a:r>
            <a:endParaRPr lang="en-US" sz="1300" dirty="0"/>
          </a:p>
          <a:p>
            <a:pPr marL="342900" indent="-342900">
              <a:spcAft>
                <a:spcPts val="600"/>
              </a:spcAft>
              <a:buSzPct val="100000"/>
              <a:buChar char="•"/>
            </a:pPr>
            <a:r>
              <a:rPr lang="en-US" sz="1300" dirty="0">
                <a:solidFill>
                  <a:srgbClr val="FFFFFF"/>
                </a:solidFill>
              </a:rPr>
              <a:t>Contoh: mahasiswa kurang mampu yang kehadirannya rendah karena harus kerja part-time bisa 'dihukum ganda' — diprediksi berisiko, lalu gagal dapat beasiswa yang justru paling dia butuhkan.</a:t>
            </a:r>
            <a:endParaRPr lang="en-US" sz="1300" dirty="0"/>
          </a:p>
          <a:p>
            <a:pPr marL="342900" indent="-342900">
              <a:spcAft>
                <a:spcPts val="600"/>
              </a:spcAft>
              <a:buSzPct val="100000"/>
              <a:buChar char="•"/>
            </a:pPr>
            <a:r>
              <a:rPr lang="en-US" sz="1300" dirty="0">
                <a:solidFill>
                  <a:srgbClr val="FFFFFF"/>
                </a:solidFill>
              </a:rPr>
              <a:t>Bias gender juga mungkin muncul kalau data historis mengandung pola yang tidak representatif.</a:t>
            </a:r>
            <a:endParaRPr lang="en-US" sz="1300" dirty="0"/>
          </a:p>
        </p:txBody>
      </p:sp>
      <p:sp>
        <p:nvSpPr>
          <p:cNvPr id="7" name="Text 5"/>
          <p:cNvSpPr txBox="1"/>
          <p:nvPr/>
        </p:nvSpPr>
        <p:spPr>
          <a:xfrm>
            <a:off x="1097280" y="4160520"/>
            <a:ext cx="10058400" cy="411480"/>
          </a:xfrm>
          <a:prstGeom prst="rect">
            <a:avLst/>
          </a:prstGeom>
          <a:noFill/>
          <a:ln/>
        </p:spPr>
        <p:txBody>
          <a:bodyPr wrap="square" rtlCol="0" anchor="ctr"/>
          <a:lstStyle/>
          <a:p>
            <a:pPr marL="0" indent="0">
              <a:buNone/>
            </a:pPr>
            <a:r>
              <a:rPr lang="en-US" sz="1600" b="1" dirty="0">
                <a:solidFill>
                  <a:srgbClr val="F9A826"/>
                </a:solidFill>
              </a:rPr>
              <a:t>Mitigasi</a:t>
            </a:r>
            <a:endParaRPr lang="en-US" sz="1600" dirty="0"/>
          </a:p>
        </p:txBody>
      </p:sp>
      <p:sp>
        <p:nvSpPr>
          <p:cNvPr id="8" name="Text 6"/>
          <p:cNvSpPr txBox="1"/>
          <p:nvPr/>
        </p:nvSpPr>
        <p:spPr>
          <a:xfrm>
            <a:off x="1097280" y="4572000"/>
            <a:ext cx="10058400" cy="1371600"/>
          </a:xfrm>
          <a:prstGeom prst="rect">
            <a:avLst/>
          </a:prstGeom>
          <a:noFill/>
          <a:ln/>
        </p:spPr>
        <p:txBody>
          <a:bodyPr wrap="square" rtlCol="0" anchor="t"/>
          <a:lstStyle/>
          <a:p>
            <a:pPr marL="342900" indent="-342900">
              <a:spcAft>
                <a:spcPts val="400"/>
              </a:spcAft>
              <a:buSzPct val="100000"/>
              <a:buChar char="•"/>
            </a:pPr>
            <a:r>
              <a:rPr lang="en-US" sz="1300" dirty="0">
                <a:solidFill>
                  <a:srgbClr val="FFFFFF"/>
                </a:solidFill>
              </a:rPr>
              <a:t>Audit fairness berkala per kelompok (penghasilan, gender)</a:t>
            </a:r>
            <a:endParaRPr lang="en-US" sz="1300" dirty="0"/>
          </a:p>
          <a:p>
            <a:pPr marL="342900" indent="-342900">
              <a:spcAft>
                <a:spcPts val="400"/>
              </a:spcAft>
              <a:buSzPct val="100000"/>
              <a:buChar char="•"/>
            </a:pPr>
            <a:r>
              <a:rPr lang="en-US" sz="1300" dirty="0">
                <a:solidFill>
                  <a:srgbClr val="FFFFFF"/>
                </a:solidFill>
              </a:rPr>
              <a:t>Keluarkan/batasi fitur sensitif sebagai input langsung model</a:t>
            </a:r>
            <a:endParaRPr lang="en-US" sz="1300" dirty="0"/>
          </a:p>
          <a:p>
            <a:pPr marL="342900" indent="-342900">
              <a:spcAft>
                <a:spcPts val="400"/>
              </a:spcAft>
              <a:buSzPct val="100000"/>
              <a:buChar char="•"/>
            </a:pPr>
            <a:r>
              <a:rPr lang="en-US" sz="1300" dirty="0">
                <a:solidFill>
                  <a:srgbClr val="FFFFFF"/>
                </a:solidFill>
              </a:rPr>
              <a:t>Human-in-the-loop: keputusan akhir tetap melibatkan manusia, bukan model saja</a:t>
            </a:r>
            <a:endParaRPr lang="en-US" sz="1300" dirty="0"/>
          </a:p>
          <a:p>
            <a:pPr marL="342900" indent="-342900">
              <a:spcAft>
                <a:spcPts val="400"/>
              </a:spcAft>
              <a:buSzPct val="100000"/>
              <a:buChar char="•"/>
            </a:pPr>
            <a:r>
              <a:rPr lang="en-US" sz="1300" dirty="0">
                <a:solidFill>
                  <a:srgbClr val="FFFFFF"/>
                </a:solidFill>
              </a:rPr>
              <a:t>Transparansi ke mahasiswa mengenai faktor yang memengaruhi prediksi</a:t>
            </a:r>
            <a:endParaRPr lang="en-US" sz="1300" dirty="0"/>
          </a:p>
        </p:txBody>
      </p:sp>
      <p:sp>
        <p:nvSpPr>
          <p:cNvPr id="9" name="Text 7"/>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1295C"/>
          </a:solidFill>
          <a:ln/>
        </p:spPr>
      </p:sp>
      <p:sp>
        <p:nvSpPr>
          <p:cNvPr id="3" name="Text 1"/>
          <p:cNvSpPr txBox="1"/>
          <p:nvPr/>
        </p:nvSpPr>
        <p:spPr>
          <a:xfrm>
            <a:off x="548640" y="365760"/>
            <a:ext cx="11064240" cy="82296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Simulasi Kasus &amp; Kesimpulan</a:t>
            </a:r>
            <a:endParaRPr lang="en-US" sz="2800" dirty="0"/>
          </a:p>
        </p:txBody>
      </p:sp>
      <p:sp>
        <p:nvSpPr>
          <p:cNvPr id="4" name="Shape 2"/>
          <p:cNvSpPr/>
          <p:nvPr/>
        </p:nvSpPr>
        <p:spPr>
          <a:xfrm>
            <a:off x="548640" y="1508760"/>
            <a:ext cx="5486400" cy="3246120"/>
          </a:xfrm>
          <a:prstGeom prst="roundRect">
            <a:avLst>
              <a:gd name="adj" fmla="val 3380"/>
            </a:avLst>
          </a:prstGeom>
          <a:solidFill>
            <a:srgbClr val="2B356E"/>
          </a:solidFill>
          <a:ln w="12700">
            <a:solidFill>
              <a:srgbClr val="1C7293"/>
            </a:solidFill>
            <a:prstDash val="solid"/>
          </a:ln>
        </p:spPr>
      </p:sp>
      <p:sp>
        <p:nvSpPr>
          <p:cNvPr id="5" name="Text 3"/>
          <p:cNvSpPr txBox="1"/>
          <p:nvPr/>
        </p:nvSpPr>
        <p:spPr>
          <a:xfrm>
            <a:off x="822960" y="1691640"/>
            <a:ext cx="4937760" cy="457200"/>
          </a:xfrm>
          <a:prstGeom prst="rect">
            <a:avLst/>
          </a:prstGeom>
          <a:noFill/>
          <a:ln/>
        </p:spPr>
        <p:txBody>
          <a:bodyPr wrap="square" rtlCol="0" anchor="ctr"/>
          <a:lstStyle/>
          <a:p>
            <a:pPr marL="0" indent="0">
              <a:buNone/>
            </a:pPr>
            <a:r>
              <a:rPr lang="en-US" sz="1600" b="1" dirty="0">
                <a:solidFill>
                  <a:srgbClr val="F9A826"/>
                </a:solidFill>
              </a:rPr>
              <a:t>Simulasi: IPK 3.8, Kehadiran 55%</a:t>
            </a:r>
            <a:endParaRPr lang="en-US" sz="1600" dirty="0"/>
          </a:p>
        </p:txBody>
      </p:sp>
      <p:sp>
        <p:nvSpPr>
          <p:cNvPr id="6" name="Text 4"/>
          <p:cNvSpPr txBox="1"/>
          <p:nvPr/>
        </p:nvSpPr>
        <p:spPr>
          <a:xfrm>
            <a:off x="822960" y="2194560"/>
            <a:ext cx="4937760" cy="2468880"/>
          </a:xfrm>
          <a:prstGeom prst="rect">
            <a:avLst/>
          </a:prstGeom>
          <a:noFill/>
          <a:ln/>
        </p:spPr>
        <p:txBody>
          <a:bodyPr wrap="square" rtlCol="0" anchor="t"/>
          <a:lstStyle/>
          <a:p>
            <a:pPr marL="342900" indent="-342900">
              <a:spcAft>
                <a:spcPts val="600"/>
              </a:spcAft>
              <a:buSzPct val="100000"/>
              <a:buChar char="•"/>
            </a:pPr>
            <a:r>
              <a:rPr lang="en-US" sz="1200" dirty="0">
                <a:solidFill>
                  <a:srgbClr val="FFFFFF"/>
                </a:solidFill>
              </a:rPr>
              <a:t>Decision Tree: 'Ya' (prob 0.875) , IPK sangat tinggi mengompensasi kehadiran rendah lewat aturan bersyarat</a:t>
            </a:r>
            <a:endParaRPr lang="en-US" sz="1200" dirty="0"/>
          </a:p>
          <a:p>
            <a:pPr marL="342900" indent="-342900">
              <a:spcAft>
                <a:spcPts val="600"/>
              </a:spcAft>
              <a:buSzPct val="100000"/>
              <a:buChar char="•"/>
            </a:pPr>
            <a:r>
              <a:rPr lang="en-US" sz="1200" dirty="0">
                <a:solidFill>
                  <a:srgbClr val="FFFFFF"/>
                </a:solidFill>
              </a:rPr>
              <a:t>Naive Bayes: 'Ya' (prob 0.529, nyaris seri) ,  kehadiran rendah menekan keyakinan karena tiap fitur dinilai independen</a:t>
            </a:r>
            <a:endParaRPr lang="en-US" sz="1200" dirty="0"/>
          </a:p>
          <a:p>
            <a:pPr marL="342900" indent="-342900">
              <a:spcAft>
                <a:spcPts val="600"/>
              </a:spcAft>
              <a:buSzPct val="100000"/>
              <a:buChar char="•"/>
            </a:pPr>
            <a:r>
              <a:rPr lang="en-US" sz="1200" dirty="0">
                <a:solidFill>
                  <a:srgbClr val="FFFFFF"/>
                </a:solidFill>
              </a:rPr>
              <a:t>DT menangkap interaksi fitur; NB lebih 'ragu' saat bukti antar-fitur bertentangan</a:t>
            </a:r>
            <a:endParaRPr lang="en-US" sz="1200" dirty="0"/>
          </a:p>
        </p:txBody>
      </p:sp>
      <p:sp>
        <p:nvSpPr>
          <p:cNvPr id="7" name="Shape 5"/>
          <p:cNvSpPr/>
          <p:nvPr/>
        </p:nvSpPr>
        <p:spPr>
          <a:xfrm>
            <a:off x="6217920" y="1508760"/>
            <a:ext cx="5394960" cy="3246120"/>
          </a:xfrm>
          <a:prstGeom prst="roundRect">
            <a:avLst>
              <a:gd name="adj" fmla="val 3380"/>
            </a:avLst>
          </a:prstGeom>
          <a:solidFill>
            <a:srgbClr val="2B356E"/>
          </a:solidFill>
          <a:ln w="12700">
            <a:solidFill>
              <a:srgbClr val="1C7293"/>
            </a:solidFill>
            <a:prstDash val="solid"/>
          </a:ln>
        </p:spPr>
      </p:sp>
      <p:sp>
        <p:nvSpPr>
          <p:cNvPr id="8" name="Text 6"/>
          <p:cNvSpPr txBox="1"/>
          <p:nvPr/>
        </p:nvSpPr>
        <p:spPr>
          <a:xfrm>
            <a:off x="6492240" y="1691640"/>
            <a:ext cx="4937760" cy="457200"/>
          </a:xfrm>
          <a:prstGeom prst="rect">
            <a:avLst/>
          </a:prstGeom>
          <a:noFill/>
          <a:ln/>
        </p:spPr>
        <p:txBody>
          <a:bodyPr wrap="square" rtlCol="0" anchor="ctr"/>
          <a:lstStyle/>
          <a:p>
            <a:pPr marL="0" indent="0">
              <a:buNone/>
            </a:pPr>
            <a:r>
              <a:rPr lang="en-US" sz="1600" b="1" dirty="0">
                <a:solidFill>
                  <a:srgbClr val="F9A826"/>
                </a:solidFill>
              </a:rPr>
              <a:t>Kesimpulan</a:t>
            </a:r>
            <a:endParaRPr lang="en-US" sz="1600" dirty="0"/>
          </a:p>
        </p:txBody>
      </p:sp>
      <p:sp>
        <p:nvSpPr>
          <p:cNvPr id="9" name="Text 7"/>
          <p:cNvSpPr txBox="1"/>
          <p:nvPr/>
        </p:nvSpPr>
        <p:spPr>
          <a:xfrm>
            <a:off x="6492240" y="2194560"/>
            <a:ext cx="4937760" cy="2468880"/>
          </a:xfrm>
          <a:prstGeom prst="rect">
            <a:avLst/>
          </a:prstGeom>
          <a:noFill/>
          <a:ln/>
        </p:spPr>
        <p:txBody>
          <a:bodyPr wrap="square" rtlCol="0" anchor="t"/>
          <a:lstStyle/>
          <a:p>
            <a:pPr marL="342900" indent="-342900">
              <a:spcAft>
                <a:spcPts val="600"/>
              </a:spcAft>
              <a:buSzPct val="100000"/>
              <a:buChar char="•"/>
            </a:pPr>
            <a:r>
              <a:rPr lang="en-US" sz="1200" dirty="0">
                <a:solidFill>
                  <a:srgbClr val="FFFFFF"/>
                </a:solidFill>
              </a:rPr>
              <a:t>Ketiga model diuji: DT tanpa batas kedalaman TERBUKTI overfitting</a:t>
            </a:r>
            <a:endParaRPr lang="en-US" sz="1200" dirty="0"/>
          </a:p>
          <a:p>
            <a:pPr marL="342900" indent="-342900">
              <a:spcAft>
                <a:spcPts val="600"/>
              </a:spcAft>
              <a:buSzPct val="100000"/>
              <a:buChar char="•"/>
            </a:pPr>
            <a:r>
              <a:rPr lang="en-US" sz="1200" dirty="0">
                <a:solidFill>
                  <a:srgbClr val="FFFFFF"/>
                </a:solidFill>
              </a:rPr>
              <a:t>DT (depth=3) &amp; Naive Bayes setara akurasi (0.67), saling melengkapi</a:t>
            </a:r>
            <a:endParaRPr lang="en-US" sz="1200" dirty="0"/>
          </a:p>
          <a:p>
            <a:pPr marL="342900" indent="-342900">
              <a:spcAft>
                <a:spcPts val="600"/>
              </a:spcAft>
              <a:buSzPct val="100000"/>
              <a:buChar char="•"/>
            </a:pPr>
            <a:r>
              <a:rPr lang="en-US" sz="1200" dirty="0">
                <a:solidFill>
                  <a:srgbClr val="FFFFFF"/>
                </a:solidFill>
              </a:rPr>
              <a:t>Rekomendasi: NB untuk deteksi risiko, DT untuk interpretasi</a:t>
            </a:r>
            <a:endParaRPr lang="en-US" sz="1200" dirty="0"/>
          </a:p>
          <a:p>
            <a:pPr marL="342900" indent="-342900">
              <a:spcAft>
                <a:spcPts val="600"/>
              </a:spcAft>
              <a:buSzPct val="100000"/>
              <a:buChar char="•"/>
            </a:pPr>
            <a:r>
              <a:rPr lang="en-US" sz="1200" dirty="0">
                <a:solidFill>
                  <a:srgbClr val="FFFFFF"/>
                </a:solidFill>
              </a:rPr>
              <a:t>Perlu fitur tambahan &amp; mitigasi bias sebelum dipakai untuk keputusan berdampak besar (mis. beasiswa)</a:t>
            </a:r>
            <a:endParaRPr lang="en-US" sz="1200" dirty="0"/>
          </a:p>
        </p:txBody>
      </p:sp>
      <p:sp>
        <p:nvSpPr>
          <p:cNvPr id="11" name="Text 9"/>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a:extLst>
            <a:ext uri="{FF2B5EF4-FFF2-40B4-BE49-F238E27FC236}">
              <a16:creationId xmlns:a16="http://schemas.microsoft.com/office/drawing/2014/main" id="{69D61BF7-D420-C07D-274E-EE1E68C32B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838282-5D3A-97A4-AC99-81D4EF1529AB}"/>
              </a:ext>
            </a:extLst>
          </p:cNvPr>
          <p:cNvSpPr/>
          <p:nvPr/>
        </p:nvSpPr>
        <p:spPr>
          <a:xfrm>
            <a:off x="0" y="0"/>
            <a:ext cx="12188952" cy="1188720"/>
          </a:xfrm>
          <a:prstGeom prst="rect">
            <a:avLst/>
          </a:prstGeom>
          <a:solidFill>
            <a:srgbClr val="21295C"/>
          </a:solidFill>
          <a:ln/>
        </p:spPr>
      </p:sp>
      <p:sp>
        <p:nvSpPr>
          <p:cNvPr id="11" name="Text 9">
            <a:extLst>
              <a:ext uri="{FF2B5EF4-FFF2-40B4-BE49-F238E27FC236}">
                <a16:creationId xmlns:a16="http://schemas.microsoft.com/office/drawing/2014/main" id="{3B5C2167-232D-9F1C-1CE8-5838D56E9822}"/>
              </a:ext>
            </a:extLst>
          </p:cNvPr>
          <p:cNvSpPr txBox="1"/>
          <p:nvPr/>
        </p:nvSpPr>
        <p:spPr>
          <a:xfrm>
            <a:off x="548640" y="6446520"/>
            <a:ext cx="10972800" cy="320040"/>
          </a:xfrm>
          <a:prstGeom prst="rect">
            <a:avLst/>
          </a:prstGeom>
          <a:noFill/>
          <a:ln/>
        </p:spPr>
        <p:txBody>
          <a:bodyPr wrap="square" rtlCol="0" anchor="ctr"/>
          <a:lstStyle/>
          <a:p>
            <a:r>
              <a:rPr lang="en-US" sz="1000" dirty="0">
                <a:solidFill>
                  <a:srgbClr val="1C7293"/>
                </a:solidFill>
              </a:rPr>
              <a:t>Universitas Bengkulu</a:t>
            </a:r>
            <a:endParaRPr lang="en-US" sz="1000" dirty="0"/>
          </a:p>
        </p:txBody>
      </p:sp>
      <p:sp>
        <p:nvSpPr>
          <p:cNvPr id="13" name="TextBox 12">
            <a:extLst>
              <a:ext uri="{FF2B5EF4-FFF2-40B4-BE49-F238E27FC236}">
                <a16:creationId xmlns:a16="http://schemas.microsoft.com/office/drawing/2014/main" id="{4C49911F-AB2E-2E59-BC06-A7275AC56C2A}"/>
              </a:ext>
            </a:extLst>
          </p:cNvPr>
          <p:cNvSpPr txBox="1"/>
          <p:nvPr/>
        </p:nvSpPr>
        <p:spPr>
          <a:xfrm>
            <a:off x="2941320" y="1499662"/>
            <a:ext cx="6187440" cy="830997"/>
          </a:xfrm>
          <a:prstGeom prst="rect">
            <a:avLst/>
          </a:prstGeom>
          <a:noFill/>
        </p:spPr>
        <p:txBody>
          <a:bodyPr wrap="square">
            <a:spAutoFit/>
          </a:bodyPr>
          <a:lstStyle/>
          <a:p>
            <a:pPr marL="0" indent="0" algn="ctr">
              <a:buNone/>
            </a:pPr>
            <a:r>
              <a:rPr lang="en-US" sz="4800" b="1" kern="0" spc="300" dirty="0">
                <a:solidFill>
                  <a:srgbClr val="FFFFFF"/>
                </a:solidFill>
                <a:latin typeface="Calibri" pitchFamily="34" charset="0"/>
                <a:ea typeface="Calibri" pitchFamily="34" charset="-122"/>
                <a:cs typeface="Calibri" pitchFamily="34" charset="-120"/>
              </a:rPr>
              <a:t>TERIMA KASIH</a:t>
            </a:r>
            <a:endParaRPr lang="en-US" sz="4800" dirty="0"/>
          </a:p>
        </p:txBody>
      </p:sp>
      <p:sp>
        <p:nvSpPr>
          <p:cNvPr id="15" name="Shape 0">
            <a:extLst>
              <a:ext uri="{FF2B5EF4-FFF2-40B4-BE49-F238E27FC236}">
                <a16:creationId xmlns:a16="http://schemas.microsoft.com/office/drawing/2014/main" id="{48EF01E0-FC0B-2BD5-0B89-A5376E14FD99}"/>
              </a:ext>
            </a:extLst>
          </p:cNvPr>
          <p:cNvSpPr/>
          <p:nvPr/>
        </p:nvSpPr>
        <p:spPr>
          <a:xfrm>
            <a:off x="8473440" y="-786338"/>
            <a:ext cx="4572000" cy="4572000"/>
          </a:xfrm>
          <a:prstGeom prst="ellipse">
            <a:avLst/>
          </a:prstGeom>
          <a:solidFill>
            <a:srgbClr val="2563EB">
              <a:alpha val="28000"/>
            </a:srgbClr>
          </a:solidFill>
          <a:ln w="12700">
            <a:solidFill>
              <a:srgbClr val="2563EB">
                <a:alpha val="28000"/>
              </a:srgbClr>
            </a:solidFill>
            <a:prstDash val="solid"/>
          </a:ln>
        </p:spPr>
      </p:sp>
      <p:sp>
        <p:nvSpPr>
          <p:cNvPr id="17" name="Shape 0">
            <a:extLst>
              <a:ext uri="{FF2B5EF4-FFF2-40B4-BE49-F238E27FC236}">
                <a16:creationId xmlns:a16="http://schemas.microsoft.com/office/drawing/2014/main" id="{0E4E792E-F493-3560-3E66-81864CD33249}"/>
              </a:ext>
            </a:extLst>
          </p:cNvPr>
          <p:cNvSpPr/>
          <p:nvPr/>
        </p:nvSpPr>
        <p:spPr>
          <a:xfrm>
            <a:off x="-548640" y="3072338"/>
            <a:ext cx="4572000" cy="4572000"/>
          </a:xfrm>
          <a:prstGeom prst="ellipse">
            <a:avLst/>
          </a:prstGeom>
          <a:solidFill>
            <a:srgbClr val="2563EB">
              <a:alpha val="28000"/>
            </a:srgbClr>
          </a:solidFill>
          <a:ln w="12700">
            <a:solidFill>
              <a:srgbClr val="2563EB">
                <a:alpha val="28000"/>
              </a:srgbClr>
            </a:solidFill>
            <a:prstDash val="solid"/>
          </a:ln>
        </p:spPr>
      </p:sp>
      <p:sp>
        <p:nvSpPr>
          <p:cNvPr id="19" name="Shape 5">
            <a:extLst>
              <a:ext uri="{FF2B5EF4-FFF2-40B4-BE49-F238E27FC236}">
                <a16:creationId xmlns:a16="http://schemas.microsoft.com/office/drawing/2014/main" id="{35FF9DFE-92BB-D361-FEB8-4AC2EA4BA011}"/>
              </a:ext>
            </a:extLst>
          </p:cNvPr>
          <p:cNvSpPr/>
          <p:nvPr/>
        </p:nvSpPr>
        <p:spPr>
          <a:xfrm>
            <a:off x="3808476" y="2856992"/>
            <a:ext cx="4572000" cy="0"/>
          </a:xfrm>
          <a:prstGeom prst="line">
            <a:avLst/>
          </a:prstGeom>
          <a:noFill/>
          <a:ln w="25400">
            <a:solidFill>
              <a:srgbClr val="0EA5E9"/>
            </a:solidFill>
            <a:prstDash val="solid"/>
          </a:ln>
        </p:spPr>
      </p:sp>
      <p:sp>
        <p:nvSpPr>
          <p:cNvPr id="21" name="TextBox 20">
            <a:extLst>
              <a:ext uri="{FF2B5EF4-FFF2-40B4-BE49-F238E27FC236}">
                <a16:creationId xmlns:a16="http://schemas.microsoft.com/office/drawing/2014/main" id="{056CD29C-1742-A6C5-B25E-E844107686F6}"/>
              </a:ext>
            </a:extLst>
          </p:cNvPr>
          <p:cNvSpPr txBox="1"/>
          <p:nvPr/>
        </p:nvSpPr>
        <p:spPr>
          <a:xfrm>
            <a:off x="3808476" y="3121223"/>
            <a:ext cx="6802120" cy="307777"/>
          </a:xfrm>
          <a:prstGeom prst="rect">
            <a:avLst/>
          </a:prstGeom>
          <a:noFill/>
        </p:spPr>
        <p:txBody>
          <a:bodyPr wrap="square">
            <a:spAutoFit/>
          </a:bodyPr>
          <a:lstStyle/>
          <a:p>
            <a:r>
              <a:rPr lang="en-US" sz="1400" dirty="0" err="1">
                <a:solidFill>
                  <a:srgbClr val="CADCFC"/>
                </a:solidFill>
                <a:latin typeface="Calibri" pitchFamily="34" charset="0"/>
                <a:ea typeface="Calibri" pitchFamily="34" charset="-122"/>
                <a:cs typeface="Calibri" pitchFamily="34" charset="-120"/>
              </a:rPr>
              <a:t>Semoga</a:t>
            </a:r>
            <a:r>
              <a:rPr lang="en-US" sz="1400" dirty="0">
                <a:solidFill>
                  <a:srgbClr val="CADCFC"/>
                </a:solidFill>
                <a:latin typeface="Calibri" pitchFamily="34" charset="0"/>
                <a:ea typeface="Calibri" pitchFamily="34" charset="-122"/>
                <a:cs typeface="Calibri" pitchFamily="34" charset="-120"/>
              </a:rPr>
              <a:t> </a:t>
            </a:r>
            <a:r>
              <a:rPr lang="en-US" sz="1400" dirty="0" err="1">
                <a:solidFill>
                  <a:srgbClr val="CADCFC"/>
                </a:solidFill>
                <a:latin typeface="Calibri" pitchFamily="34" charset="0"/>
                <a:ea typeface="Calibri" pitchFamily="34" charset="-122"/>
                <a:cs typeface="Calibri" pitchFamily="34" charset="-120"/>
              </a:rPr>
              <a:t>presentasi</a:t>
            </a:r>
            <a:r>
              <a:rPr lang="en-US" sz="1400" dirty="0">
                <a:solidFill>
                  <a:srgbClr val="CADCFC"/>
                </a:solidFill>
                <a:latin typeface="Calibri" pitchFamily="34" charset="0"/>
                <a:ea typeface="Calibri" pitchFamily="34" charset="-122"/>
                <a:cs typeface="Calibri" pitchFamily="34" charset="-120"/>
              </a:rPr>
              <a:t> </a:t>
            </a:r>
            <a:r>
              <a:rPr lang="en-US" sz="1400" dirty="0" err="1">
                <a:solidFill>
                  <a:srgbClr val="CADCFC"/>
                </a:solidFill>
                <a:latin typeface="Calibri" pitchFamily="34" charset="0"/>
                <a:ea typeface="Calibri" pitchFamily="34" charset="-122"/>
                <a:cs typeface="Calibri" pitchFamily="34" charset="-120"/>
              </a:rPr>
              <a:t>ini</a:t>
            </a:r>
            <a:r>
              <a:rPr lang="en-US" sz="1400" dirty="0">
                <a:solidFill>
                  <a:srgbClr val="CADCFC"/>
                </a:solidFill>
                <a:latin typeface="Calibri" pitchFamily="34" charset="0"/>
                <a:ea typeface="Calibri" pitchFamily="34" charset="-122"/>
                <a:cs typeface="Calibri" pitchFamily="34" charset="-120"/>
              </a:rPr>
              <a:t> </a:t>
            </a:r>
            <a:r>
              <a:rPr lang="en-US" sz="1400" dirty="0" err="1">
                <a:solidFill>
                  <a:srgbClr val="CADCFC"/>
                </a:solidFill>
                <a:latin typeface="Calibri" pitchFamily="34" charset="0"/>
                <a:ea typeface="Calibri" pitchFamily="34" charset="-122"/>
                <a:cs typeface="Calibri" pitchFamily="34" charset="-120"/>
              </a:rPr>
              <a:t>bisa</a:t>
            </a:r>
            <a:r>
              <a:rPr lang="en-US" sz="1400" dirty="0">
                <a:solidFill>
                  <a:srgbClr val="CADCFC"/>
                </a:solidFill>
                <a:latin typeface="Calibri" pitchFamily="34" charset="0"/>
                <a:ea typeface="Calibri" pitchFamily="34" charset="-122"/>
                <a:cs typeface="Calibri" pitchFamily="34" charset="-120"/>
              </a:rPr>
              <a:t> </a:t>
            </a:r>
            <a:r>
              <a:rPr lang="en-US" sz="1400" dirty="0" err="1">
                <a:solidFill>
                  <a:srgbClr val="CADCFC"/>
                </a:solidFill>
                <a:latin typeface="Calibri" pitchFamily="34" charset="0"/>
                <a:ea typeface="Calibri" pitchFamily="34" charset="-122"/>
                <a:cs typeface="Calibri" pitchFamily="34" charset="-120"/>
              </a:rPr>
              <a:t>bermanfaat</a:t>
            </a:r>
            <a:r>
              <a:rPr lang="en-US" sz="1400" dirty="0">
                <a:solidFill>
                  <a:srgbClr val="CADCFC"/>
                </a:solidFill>
                <a:latin typeface="Calibri" pitchFamily="34" charset="0"/>
                <a:ea typeface="Calibri" pitchFamily="34" charset="-122"/>
                <a:cs typeface="Calibri" pitchFamily="34" charset="-120"/>
              </a:rPr>
              <a:t> </a:t>
            </a:r>
            <a:r>
              <a:rPr lang="en-US" sz="1400" dirty="0" err="1">
                <a:solidFill>
                  <a:srgbClr val="CADCFC"/>
                </a:solidFill>
                <a:latin typeface="Calibri" pitchFamily="34" charset="0"/>
                <a:ea typeface="Calibri" pitchFamily="34" charset="-122"/>
                <a:cs typeface="Calibri" pitchFamily="34" charset="-120"/>
              </a:rPr>
              <a:t>bagi</a:t>
            </a:r>
            <a:r>
              <a:rPr lang="en-US" sz="1400" dirty="0">
                <a:solidFill>
                  <a:srgbClr val="CADCFC"/>
                </a:solidFill>
                <a:latin typeface="Calibri" pitchFamily="34" charset="0"/>
                <a:ea typeface="Calibri" pitchFamily="34" charset="-122"/>
                <a:cs typeface="Calibri" pitchFamily="34" charset="-120"/>
              </a:rPr>
              <a:t> yang </a:t>
            </a:r>
            <a:r>
              <a:rPr lang="en-US" sz="1400" dirty="0" err="1">
                <a:solidFill>
                  <a:srgbClr val="CADCFC"/>
                </a:solidFill>
                <a:latin typeface="Calibri" pitchFamily="34" charset="0"/>
                <a:ea typeface="Calibri" pitchFamily="34" charset="-122"/>
                <a:cs typeface="Calibri" pitchFamily="34" charset="-120"/>
              </a:rPr>
              <a:t>menyimak</a:t>
            </a:r>
            <a:r>
              <a:rPr lang="en-US" sz="1400" dirty="0">
                <a:solidFill>
                  <a:srgbClr val="CADCFC"/>
                </a:solidFill>
                <a:latin typeface="Calibri" pitchFamily="34" charset="0"/>
                <a:ea typeface="Calibri" pitchFamily="34" charset="-122"/>
                <a:cs typeface="Calibri" pitchFamily="34" charset="-120"/>
              </a:rPr>
              <a:t> </a:t>
            </a:r>
            <a:endParaRPr lang="en-ID" dirty="0"/>
          </a:p>
        </p:txBody>
      </p:sp>
      <p:sp>
        <p:nvSpPr>
          <p:cNvPr id="23" name="Shape 2">
            <a:extLst>
              <a:ext uri="{FF2B5EF4-FFF2-40B4-BE49-F238E27FC236}">
                <a16:creationId xmlns:a16="http://schemas.microsoft.com/office/drawing/2014/main" id="{D49D90E1-92AD-81AE-726C-3C319E45398F}"/>
              </a:ext>
            </a:extLst>
          </p:cNvPr>
          <p:cNvSpPr/>
          <p:nvPr/>
        </p:nvSpPr>
        <p:spPr>
          <a:xfrm>
            <a:off x="5051806" y="4572000"/>
            <a:ext cx="4315460" cy="3306018"/>
          </a:xfrm>
          <a:prstGeom prst="ellipse">
            <a:avLst/>
          </a:prstGeom>
          <a:solidFill>
            <a:srgbClr val="FCD34D">
              <a:alpha val="35000"/>
            </a:srgbClr>
          </a:solidFill>
          <a:ln w="12700">
            <a:solidFill>
              <a:srgbClr val="FCD34D">
                <a:alpha val="35000"/>
              </a:srgbClr>
            </a:solidFill>
            <a:prstDash val="solid"/>
          </a:ln>
        </p:spPr>
      </p:sp>
    </p:spTree>
    <p:extLst>
      <p:ext uri="{BB962C8B-B14F-4D97-AF65-F5344CB8AC3E}">
        <p14:creationId xmlns:p14="http://schemas.microsoft.com/office/powerpoint/2010/main" val="3026175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1817</Words>
  <Application>Microsoft Office PowerPoint</Application>
  <PresentationFormat>Widescreen</PresentationFormat>
  <Paragraphs>134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ASUS .</cp:lastModifiedBy>
  <cp:revision>3</cp:revision>
  <dcterms:created xsi:type="dcterms:W3CDTF">2026-09-07T08:16:36Z</dcterms:created>
  <dcterms:modified xsi:type="dcterms:W3CDTF">2026-09-07T13:52:37Z</dcterms:modified>
</cp:coreProperties>
</file>